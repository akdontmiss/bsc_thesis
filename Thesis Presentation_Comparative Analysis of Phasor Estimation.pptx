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DM Sans Medium"/>
      <p:regular r:id="rId17"/>
      <p:bold r:id="rId18"/>
      <p:italic r:id="rId19"/>
      <p:boldItalic r:id="rId20"/>
    </p:embeddedFont>
    <p:embeddedFont>
      <p:font typeface="DM Sans"/>
      <p:regular r:id="rId21"/>
      <p:bold r:id="rId22"/>
      <p:italic r:id="rId23"/>
      <p:boldItalic r:id="rId24"/>
    </p:embeddedFont>
    <p:embeddedFont>
      <p:font typeface="Merriweath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boldItalic.fntdata"/><Relationship Id="rId22" Type="http://schemas.openxmlformats.org/officeDocument/2006/relationships/font" Target="fonts/DMSans-bold.fntdata"/><Relationship Id="rId21" Type="http://schemas.openxmlformats.org/officeDocument/2006/relationships/font" Target="fonts/DMSans-regular.fntdata"/><Relationship Id="rId24" Type="http://schemas.openxmlformats.org/officeDocument/2006/relationships/font" Target="fonts/DMSans-boldItalic.fntdata"/><Relationship Id="rId23" Type="http://schemas.openxmlformats.org/officeDocument/2006/relationships/font" Target="fonts/DM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DMSansMedium-regular.fntdata"/><Relationship Id="rId16" Type="http://schemas.openxmlformats.org/officeDocument/2006/relationships/slide" Target="slides/slide11.xml"/><Relationship Id="rId19" Type="http://schemas.openxmlformats.org/officeDocument/2006/relationships/font" Target="fonts/DMSansMedium-italic.fntdata"/><Relationship Id="rId18" Type="http://schemas.openxmlformats.org/officeDocument/2006/relationships/font" Target="fonts/DMSans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Hi everyone, my name is Akram Ahmed and I’ll be presenting my frequency-domain phasor estimation algorithm which is a refinement made on an existing time-domain estimation algorithm. I’d like to extend a quick thank you to my supervisor, Vala, for her guidance throughout this thesis.</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We will walk through an open-source Phasor Measurement Unit, and how I refined its digital signal processing engine to make it more robust and compatible for modern grid emergencies.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To understand why this algorithmic refinement was necessary, we have to look at the state of our current power grid. As we integrate massive amounts of renewable energy like wind and solar, we are inadvertently displacing traditional synchronous generators. This means the grid is losing its mechanical inertia which is the physical momentum that keeps our frequency stable at 50 Hz.</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Because of this, frequency fluctuations now happen much faster and more violently. Traditional SCADA systems, which update every 2 to 4 seconds are too slow to catch up with these transients. Therefore we need Phasor Measurement Units, or PMUs.</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Their job is to extract a Synchrophasor which is a mathematical representation of the waveform that gives us the exact amplitude, frequency, and phase angle.</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However, to calculate these phasors, the existing PMU used a time-domain algorithm called the Least Squares Method, or LSM. As seen in the figure, LSM works by taking the incoming data points and minimizing the errors to fit a predefined mathematical curve.</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Because of this, the LSM is programmed to curve-fit the data to a 50 Hz sine wave. It assumes the grid is always at nominal frequency. During a grid fault, the real frequency is not 50 Hz. When the real data hits that template, we get a matrix mismatch. The algorithm struggles to fit the data, and massive estimation errors occur right when we need accurate data the most.</a:t>
            </a:r>
            <a:endParaRPr>
              <a:solidFill>
                <a:schemeClr val="dk1"/>
              </a:solidFill>
            </a:endParaRPr>
          </a:p>
          <a:p>
            <a:pPr indent="0" lvl="0" marL="0" rtl="0" algn="l">
              <a:spcBef>
                <a:spcPts val="80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This brings us to the core objective of my thesis. The goal is to replace the time-domain LSM with a highly adaptable frequency-domain algorithm known as the Enhanced Interpolated Discrete Fourier Transform, or e-IpDFT.</a:t>
            </a:r>
            <a:endParaRPr>
              <a:solidFill>
                <a:schemeClr val="dk1"/>
              </a:solidFill>
            </a:endParaRPr>
          </a:p>
          <a:p>
            <a:pPr indent="0" lvl="0" marL="0" rtl="0" algn="l">
              <a:lnSpc>
                <a:spcPct val="115000"/>
              </a:lnSpc>
              <a:spcBef>
                <a:spcPts val="800"/>
              </a:spcBef>
              <a:spcAft>
                <a:spcPts val="800"/>
              </a:spcAft>
              <a:buNone/>
            </a:pPr>
            <a:r>
              <a:rPr lang="en-US">
                <a:solidFill>
                  <a:schemeClr val="dk1"/>
                </a:solidFill>
              </a:rPr>
              <a:t>To ensure a fair comparison I deployed both algorithms on the same physical PMU, using a BeagleBone Black and Raspberry Pi. After implementation and rigorous testing, my new algorithm was validated against IEEE P-Class steady state limits which were used as the grading material.</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The e-IpDFT solves the 50 Hz template assumption by looking at the frequency spectrum to find where the actual energy peak is. It does this in three main steps.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First, it applies a Hanning Window to the raw samples. This forces the edges of our observation window to zero, which heavily reduces spectral leakage. Second, because the true grid frequency might fall between the discrete frequency bins, it calculates a fractional bin offset to estimate the exact off-nominal frequency. Finally, and most importantly, it performs Negative Image Compensation. </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As seen in the figure, energy from the negative frequency spectrum bleeds across the zero-axis and corrupts the positive measurements. The e-IpDFT iteratively calculates and subtracts this interference to achieve extreme mathematical accuracy.</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To deploy this complex math, I had to work within the OpenPMU architecture. As shown in the diagram, this is a modular pipeline where independent scripts communicate over an internal multicast. First, 'MulticastSV' ingests the raw 10 kHz voltage samples from the hardware. Then, it goes to the core estimation module, 'PhasorEst'.</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Python easily handles the LSM's simple matrix math but it would bottleneck and drop frames when running the heavy e-IpDFT. Therefore, I implemented a cross-language solution.</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The e-IpDFT math was compiled into a C++ shared library, and then passed raw memory pointers directly from Python to C++.</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Finally, the 'Telecom' module packages the results into the IEEE protocol and sends it over a secure VPN.</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Before deploying it to the actual grid, both algorithms were subjected to rigorous MATLAB steady-state simulations to test for IEEE compliance. Note that the graphs on the screen use a logarithmic scale to capture the difference clearer.</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Looking at the figures, the most notable results are the Total Vector Error or TVE during the frequency sweep from 48 to 52 Hz. TVE is the difference between the true synchrophasor and the estimated synchrophasor.</a:t>
            </a:r>
            <a:endParaRPr>
              <a:solidFill>
                <a:schemeClr val="dk1"/>
              </a:solidFill>
            </a:endParaRPr>
          </a:p>
          <a:p>
            <a:pPr indent="0" lvl="0" marL="0" rtl="0" algn="l">
              <a:lnSpc>
                <a:spcPct val="115000"/>
              </a:lnSpc>
              <a:spcBef>
                <a:spcPts val="800"/>
              </a:spcBef>
              <a:spcAft>
                <a:spcPts val="800"/>
              </a:spcAft>
              <a:buNone/>
            </a:pPr>
            <a:r>
              <a:rPr lang="en-US">
                <a:solidFill>
                  <a:schemeClr val="dk1"/>
                </a:solidFill>
              </a:rPr>
              <a:t>We can clearly see that LSM fails catastrophically, hitting nearly 32 percent error as it moves away from 50 Hertz. The e-IpDFT, however, dynamically tracks the frequency shift, maintaining a highly stable TVE of 0.016 percent. The e-IpDFT also remained well within the limits for Frequency Error and Rate-of-Change-of-Frequency Error.</a:t>
            </a:r>
            <a:endParaRPr/>
          </a:p>
        </p:txBody>
      </p:sp>
      <p:sp>
        <p:nvSpPr>
          <p:cNvPr id="176" name="Google Shape;17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US">
                <a:solidFill>
                  <a:schemeClr val="dk1"/>
                </a:solidFill>
              </a:rPr>
              <a:t>I also subjected the algorithms to grid disturbances, specifically a phase jump and a frequency step. As illustrated in the figures, the LSM matrix oscillates violently as it tries to force the shifting data into its 50 Hz template. The adaptable e-IpDFT simply tracks the shift and settles smoothly.</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With the math validated, I moved to live hardware testing on the grid. I benchmarked the PMU’s outputs against the official national frequency data published by Svenska Kraftnät's control room.</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Because the Nordic power grid is highly stable, the real frequency stayed very close to 50 Hz during the observation window. As captured directly from the Grafana visualizer, the local e-IpDFT successfully tracked the exact same major trends as the official grid data, proving its accuracy in real-time.</a:t>
            </a:r>
            <a:endParaRPr/>
          </a:p>
        </p:txBody>
      </p:sp>
      <p:sp>
        <p:nvSpPr>
          <p:cNvPr id="212" name="Google Shape;2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Slide 10:</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However, running algorithms on physical hardware always reveals real-world limitations. Looking at the phase angles, I noticed a consistent 2-second delay. I believe this is caused by the buffer handoff between Python and C++, meaning it's a software timing delay, not a math error.</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In the three-phase tracking, Phase A consistently read 1 Volt lower than the others. With some rigorous troubleshooting I believe I traced this back to minor manufacturing tolerances in the analog resistors on the input board.</a:t>
            </a:r>
            <a:endParaRPr>
              <a:solidFill>
                <a:schemeClr val="dk1"/>
              </a:solidFill>
            </a:endParaRPr>
          </a:p>
          <a:p>
            <a:pPr indent="0" lvl="0" marL="0" rtl="0" algn="l">
              <a:spcBef>
                <a:spcPts val="800"/>
              </a:spcBef>
              <a:spcAft>
                <a:spcPts val="0"/>
              </a:spcAft>
              <a:buNone/>
            </a:pPr>
            <a:r>
              <a:t/>
            </a:r>
            <a:endParaRPr/>
          </a:p>
        </p:txBody>
      </p:sp>
      <p:sp>
        <p:nvSpPr>
          <p:cNvPr id="222" name="Google Shape;22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In conclusion, the rigid 50 Hz template of the time-domain LSM fails strict IEEE P-Class requirements during grid fluctuations. By applying a Hanning window, fractional bin offsets, and negative image compensation, the e-IpDFT successfully adapts to the actual grid frequency and maintains extreme accuracy.</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US">
                <a:solidFill>
                  <a:schemeClr val="dk1"/>
                </a:solidFill>
              </a:rPr>
              <a:t>Future work could focus on upgrading the analog expansion board to resolve the resistor tolerances.</a:t>
            </a:r>
            <a:endParaRPr>
              <a:solidFill>
                <a:schemeClr val="dk1"/>
              </a:solidFill>
            </a:endParaRPr>
          </a:p>
          <a:p>
            <a:pPr indent="0" lvl="0" marL="0" rtl="0" algn="l">
              <a:lnSpc>
                <a:spcPct val="115000"/>
              </a:lnSpc>
              <a:spcBef>
                <a:spcPts val="800"/>
              </a:spcBef>
              <a:spcAft>
                <a:spcPts val="800"/>
              </a:spcAft>
              <a:buClr>
                <a:schemeClr val="dk1"/>
              </a:buClr>
              <a:buSzPts val="1100"/>
              <a:buFont typeface="Arial"/>
              <a:buNone/>
            </a:pPr>
            <a:r>
              <a:rPr lang="en-US">
                <a:solidFill>
                  <a:schemeClr val="dk1"/>
                </a:solidFill>
              </a:rPr>
              <a:t>Once complete, we can deploy these upgraded PMUs geographically to capture long-term, wide-area fault data.</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6.jp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2.png"/><Relationship Id="rId7"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657600" y="3897510"/>
            <a:ext cx="4876800" cy="3199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Haron Akram Ahmed Mohammed</a:t>
            </a:r>
            <a:endParaRPr/>
          </a:p>
        </p:txBody>
      </p:sp>
      <p:sp>
        <p:nvSpPr>
          <p:cNvPr id="86" name="Google Shape;86;p13"/>
          <p:cNvSpPr txBox="1"/>
          <p:nvPr/>
        </p:nvSpPr>
        <p:spPr>
          <a:xfrm>
            <a:off x="3657600" y="4407991"/>
            <a:ext cx="4876800" cy="266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500" u="none" cap="none" strike="noStrike">
                <a:solidFill>
                  <a:srgbClr val="F3F0DF"/>
                </a:solidFill>
                <a:latin typeface="DM Sans"/>
                <a:ea typeface="DM Sans"/>
                <a:cs typeface="DM Sans"/>
                <a:sym typeface="DM Sans"/>
              </a:rPr>
              <a:t>Supervisor: Valgerður Jónsdóttir</a:t>
            </a:r>
            <a:endParaRPr/>
          </a:p>
        </p:txBody>
      </p:sp>
      <p:sp>
        <p:nvSpPr>
          <p:cNvPr id="87" name="Google Shape;87;p13"/>
          <p:cNvSpPr txBox="1"/>
          <p:nvPr/>
        </p:nvSpPr>
        <p:spPr>
          <a:xfrm>
            <a:off x="3657600" y="4865191"/>
            <a:ext cx="4876800" cy="266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500" u="none" cap="none" strike="noStrike">
                <a:solidFill>
                  <a:srgbClr val="F3F0DF"/>
                </a:solidFill>
                <a:latin typeface="DM Sans"/>
                <a:ea typeface="DM Sans"/>
                <a:cs typeface="DM Sans"/>
                <a:sym typeface="DM Sans"/>
              </a:rPr>
              <a:t>KTH Royal Institute of Technology | Electrical Engineering</a:t>
            </a:r>
            <a:endParaRPr/>
          </a:p>
        </p:txBody>
      </p:sp>
      <p:sp>
        <p:nvSpPr>
          <p:cNvPr id="88" name="Google Shape;88;p13"/>
          <p:cNvSpPr txBox="1"/>
          <p:nvPr/>
        </p:nvSpPr>
        <p:spPr>
          <a:xfrm>
            <a:off x="1200388" y="1583084"/>
            <a:ext cx="9791223"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3F0DF"/>
                </a:solidFill>
                <a:latin typeface="Merriweather"/>
                <a:ea typeface="Merriweather"/>
                <a:cs typeface="Merriweather"/>
                <a:sym typeface="Merriweather"/>
              </a:rPr>
              <a:t>Phasor Estimation Analysis</a:t>
            </a:r>
            <a:endParaRPr/>
          </a:p>
        </p:txBody>
      </p:sp>
      <p:sp>
        <p:nvSpPr>
          <p:cNvPr id="89" name="Google Shape;89;p13"/>
          <p:cNvSpPr txBox="1"/>
          <p:nvPr/>
        </p:nvSpPr>
        <p:spPr>
          <a:xfrm>
            <a:off x="2609850" y="2527845"/>
            <a:ext cx="6972300" cy="42669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3F0DF"/>
                </a:solidFill>
                <a:latin typeface="DM Sans"/>
                <a:ea typeface="DM Sans"/>
                <a:cs typeface="DM Sans"/>
                <a:sym typeface="DM Sans"/>
              </a:rPr>
              <a:t>Time-Domain vs. Frequency-Domain Approaches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571500" y="4449378"/>
            <a:ext cx="5238750" cy="1455241"/>
          </a:xfrm>
          <a:prstGeom prst="rect">
            <a:avLst/>
          </a:prstGeom>
          <a:noFill/>
          <a:ln>
            <a:noFill/>
          </a:ln>
        </p:spPr>
      </p:pic>
      <p:sp>
        <p:nvSpPr>
          <p:cNvPr id="95" name="Google Shape;95;p14"/>
          <p:cNvSpPr txBox="1"/>
          <p:nvPr/>
        </p:nvSpPr>
        <p:spPr>
          <a:xfrm>
            <a:off x="571500" y="1820775"/>
            <a:ext cx="55008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F3F0DF"/>
                </a:solidFill>
                <a:latin typeface="DM Sans Medium"/>
                <a:ea typeface="DM Sans Medium"/>
                <a:cs typeface="DM Sans Medium"/>
                <a:sym typeface="DM Sans Medium"/>
              </a:rPr>
              <a:t>The Renewable Shift</a:t>
            </a:r>
            <a:endParaRPr/>
          </a:p>
        </p:txBody>
      </p:sp>
      <p:sp>
        <p:nvSpPr>
          <p:cNvPr id="96" name="Google Shape;96;p14"/>
          <p:cNvSpPr txBox="1"/>
          <p:nvPr/>
        </p:nvSpPr>
        <p:spPr>
          <a:xfrm>
            <a:off x="904875" y="2373225"/>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F3F0DF"/>
                </a:solidFill>
                <a:latin typeface="DM Sans"/>
                <a:ea typeface="DM Sans"/>
                <a:cs typeface="DM Sans"/>
                <a:sym typeface="DM Sans"/>
              </a:rPr>
              <a:t>Massive integration of converter-based wind and solar energy.</a:t>
            </a:r>
            <a:endParaRPr/>
          </a:p>
        </p:txBody>
      </p:sp>
      <p:sp>
        <p:nvSpPr>
          <p:cNvPr id="97" name="Google Shape;97;p14"/>
          <p:cNvSpPr txBox="1"/>
          <p:nvPr/>
        </p:nvSpPr>
        <p:spPr>
          <a:xfrm>
            <a:off x="904875" y="3156061"/>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F3F0DF"/>
                </a:solidFill>
                <a:latin typeface="DM Sans"/>
                <a:ea typeface="DM Sans"/>
                <a:cs typeface="DM Sans"/>
                <a:sym typeface="DM Sans"/>
              </a:rPr>
              <a:t>Traditional synchronous generators are being displaced.</a:t>
            </a:r>
            <a:endParaRPr/>
          </a:p>
        </p:txBody>
      </p:sp>
      <p:sp>
        <p:nvSpPr>
          <p:cNvPr id="98" name="Google Shape;98;p14"/>
          <p:cNvSpPr txBox="1"/>
          <p:nvPr/>
        </p:nvSpPr>
        <p:spPr>
          <a:xfrm>
            <a:off x="904875" y="3938897"/>
            <a:ext cx="49053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Mechanical Inertia</a:t>
            </a:r>
            <a:r>
              <a:rPr b="0" i="0" lang="en-US" sz="1800" u="none" cap="none" strike="noStrike">
                <a:solidFill>
                  <a:srgbClr val="F3F0DF"/>
                </a:solidFill>
                <a:latin typeface="DM Sans"/>
                <a:ea typeface="DM Sans"/>
                <a:cs typeface="DM Sans"/>
                <a:sym typeface="DM Sans"/>
              </a:rPr>
              <a:t> is heavily reduced.</a:t>
            </a:r>
            <a:endParaRPr/>
          </a:p>
        </p:txBody>
      </p:sp>
      <p:sp>
        <p:nvSpPr>
          <p:cNvPr id="99" name="Google Shape;99;p14"/>
          <p:cNvSpPr txBox="1"/>
          <p:nvPr/>
        </p:nvSpPr>
        <p:spPr>
          <a:xfrm>
            <a:off x="819150" y="4697028"/>
            <a:ext cx="47436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The Threat:</a:t>
            </a:r>
            <a:r>
              <a:rPr b="0" i="0" lang="en-US" sz="1800" u="none" cap="none" strike="noStrike">
                <a:solidFill>
                  <a:srgbClr val="F3F0DF"/>
                </a:solidFill>
                <a:latin typeface="DM Sans"/>
                <a:ea typeface="DM Sans"/>
                <a:cs typeface="DM Sans"/>
                <a:sym typeface="DM Sans"/>
              </a:rPr>
              <a:t> Frequency fluctuations happen much faster and more violently, requiring microsecond response times.</a:t>
            </a:r>
            <a:endParaRPr/>
          </a:p>
        </p:txBody>
      </p:sp>
      <p:sp>
        <p:nvSpPr>
          <p:cNvPr id="100" name="Google Shape;100;p14"/>
          <p:cNvSpPr txBox="1"/>
          <p:nvPr/>
        </p:nvSpPr>
        <p:spPr>
          <a:xfrm>
            <a:off x="571500" y="774365"/>
            <a:ext cx="7200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The Challenge: Low-Inertia Grids</a:t>
            </a:r>
            <a:endParaRPr/>
          </a:p>
        </p:txBody>
      </p:sp>
      <p:pic>
        <p:nvPicPr>
          <p:cNvPr descr="image.png" id="101" name="Google Shape;101;p14"/>
          <p:cNvPicPr preferRelativeResize="0"/>
          <p:nvPr/>
        </p:nvPicPr>
        <p:blipFill rotWithShape="1">
          <a:blip r:embed="rId4">
            <a:alphaModFix/>
          </a:blip>
          <a:srcRect b="0" l="0" r="0" t="0"/>
          <a:stretch/>
        </p:blipFill>
        <p:spPr>
          <a:xfrm>
            <a:off x="571500" y="2420850"/>
            <a:ext cx="104775" cy="180975"/>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571500" y="3203686"/>
            <a:ext cx="104775" cy="180975"/>
          </a:xfrm>
          <a:prstGeom prst="rect">
            <a:avLst/>
          </a:prstGeom>
          <a:noFill/>
          <a:ln>
            <a:noFill/>
          </a:ln>
        </p:spPr>
      </p:pic>
      <p:pic>
        <p:nvPicPr>
          <p:cNvPr descr="image.png" id="103" name="Google Shape;103;p14"/>
          <p:cNvPicPr preferRelativeResize="0"/>
          <p:nvPr/>
        </p:nvPicPr>
        <p:blipFill rotWithShape="1">
          <a:blip r:embed="rId4">
            <a:alphaModFix/>
          </a:blip>
          <a:srcRect b="0" l="0" r="0" t="0"/>
          <a:stretch/>
        </p:blipFill>
        <p:spPr>
          <a:xfrm>
            <a:off x="571500" y="3986522"/>
            <a:ext cx="104775" cy="180975"/>
          </a:xfrm>
          <a:prstGeom prst="rect">
            <a:avLst/>
          </a:prstGeom>
          <a:noFill/>
          <a:ln>
            <a:noFill/>
          </a:ln>
        </p:spPr>
      </p:pic>
      <p:pic>
        <p:nvPicPr>
          <p:cNvPr id="104" name="Google Shape;104;p14" title="phadke_phasor.png"/>
          <p:cNvPicPr preferRelativeResize="0"/>
          <p:nvPr/>
        </p:nvPicPr>
        <p:blipFill>
          <a:blip r:embed="rId5">
            <a:alphaModFix/>
          </a:blip>
          <a:stretch>
            <a:fillRect/>
          </a:stretch>
        </p:blipFill>
        <p:spPr>
          <a:xfrm>
            <a:off x="6535000" y="1906959"/>
            <a:ext cx="5238751" cy="2819975"/>
          </a:xfrm>
          <a:prstGeom prst="rect">
            <a:avLst/>
          </a:prstGeom>
          <a:noFill/>
          <a:ln>
            <a:noFill/>
          </a:ln>
        </p:spPr>
      </p:pic>
      <p:pic>
        <p:nvPicPr>
          <p:cNvPr descr="image.png" id="105" name="Google Shape;105;p14"/>
          <p:cNvPicPr preferRelativeResize="0"/>
          <p:nvPr/>
        </p:nvPicPr>
        <p:blipFill rotWithShape="1">
          <a:blip r:embed="rId6">
            <a:alphaModFix/>
          </a:blip>
          <a:srcRect b="0" l="0" r="0" t="0"/>
          <a:stretch/>
        </p:blipFill>
        <p:spPr>
          <a:xfrm>
            <a:off x="6535000" y="5076993"/>
            <a:ext cx="95250" cy="200025"/>
          </a:xfrm>
          <a:prstGeom prst="rect">
            <a:avLst/>
          </a:prstGeom>
          <a:noFill/>
          <a:ln>
            <a:noFill/>
          </a:ln>
        </p:spPr>
      </p:pic>
      <p:sp>
        <p:nvSpPr>
          <p:cNvPr id="106" name="Google Shape;106;p14"/>
          <p:cNvSpPr txBox="1"/>
          <p:nvPr/>
        </p:nvSpPr>
        <p:spPr>
          <a:xfrm>
            <a:off x="6800400" y="5077000"/>
            <a:ext cx="4905300" cy="10404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US" sz="1300">
                <a:solidFill>
                  <a:srgbClr val="F3F0DF"/>
                </a:solidFill>
                <a:latin typeface="DM Sans"/>
                <a:ea typeface="DM Sans"/>
                <a:cs typeface="DM Sans"/>
                <a:sym typeface="DM Sans"/>
              </a:rPr>
              <a:t>Fig. 1. A power system signal as (a) a time-domain waveform and (b) a complex synchrophasor. The magnitude Xm is the RMS value, and the phase angle ϕ  is relative to t=0.</a:t>
            </a:r>
            <a:endParaRPr sz="1300">
              <a:solidFill>
                <a:srgbClr val="F3F0DF"/>
              </a:solidFill>
              <a:latin typeface="DM Sans"/>
              <a:ea typeface="DM Sans"/>
              <a:cs typeface="DM Sans"/>
              <a:sym typeface="DM Sans"/>
            </a:endParaRPr>
          </a:p>
          <a:p>
            <a:pPr indent="0" lvl="0" marL="0" marR="0" rtl="0" algn="l">
              <a:lnSpc>
                <a:spcPct val="140000"/>
              </a:lnSpc>
              <a:spcBef>
                <a:spcPts val="0"/>
              </a:spcBef>
              <a:spcAft>
                <a:spcPts val="0"/>
              </a:spcAft>
              <a:buNone/>
            </a:pPr>
            <a:r>
              <a:t/>
            </a:r>
            <a:endParaRPr sz="1300">
              <a:solidFill>
                <a:srgbClr val="F3F0DF"/>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 name="Google Shape;112;p15"/>
          <p:cNvSpPr txBox="1"/>
          <p:nvPr/>
        </p:nvSpPr>
        <p:spPr>
          <a:xfrm>
            <a:off x="6427318" y="2411609"/>
            <a:ext cx="55008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F3F0DF"/>
                </a:solidFill>
                <a:latin typeface="DM Sans Medium"/>
                <a:ea typeface="DM Sans Medium"/>
                <a:cs typeface="DM Sans Medium"/>
                <a:sym typeface="DM Sans Medium"/>
              </a:rPr>
              <a:t>The Fatal Flaw of LSM</a:t>
            </a:r>
            <a:endParaRPr/>
          </a:p>
        </p:txBody>
      </p:sp>
      <p:sp>
        <p:nvSpPr>
          <p:cNvPr id="113" name="Google Shape;113;p15"/>
          <p:cNvSpPr txBox="1"/>
          <p:nvPr/>
        </p:nvSpPr>
        <p:spPr>
          <a:xfrm>
            <a:off x="6760693" y="2964059"/>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The existing algorithm curve-fits the incoming data to a rigid 50 Hz template matrix</a:t>
            </a:r>
            <a:endParaRPr/>
          </a:p>
        </p:txBody>
      </p:sp>
      <p:sp>
        <p:nvSpPr>
          <p:cNvPr id="114" name="Google Shape;114;p15"/>
          <p:cNvSpPr txBox="1"/>
          <p:nvPr/>
        </p:nvSpPr>
        <p:spPr>
          <a:xfrm>
            <a:off x="6760693" y="3732289"/>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Problem:</a:t>
            </a:r>
            <a:r>
              <a:rPr b="0" i="0" lang="en-US" sz="1800" u="none" cap="none" strike="noStrike">
                <a:solidFill>
                  <a:srgbClr val="F3F0DF"/>
                </a:solidFill>
                <a:latin typeface="DM Sans"/>
                <a:ea typeface="DM Sans"/>
                <a:cs typeface="DM Sans"/>
                <a:sym typeface="DM Sans"/>
              </a:rPr>
              <a:t> During a fault, the grid frequency is NOT 50 Hz.</a:t>
            </a:r>
            <a:endParaRPr/>
          </a:p>
        </p:txBody>
      </p:sp>
      <p:sp>
        <p:nvSpPr>
          <p:cNvPr id="115" name="Google Shape;115;p15"/>
          <p:cNvSpPr txBox="1"/>
          <p:nvPr/>
        </p:nvSpPr>
        <p:spPr>
          <a:xfrm>
            <a:off x="6760693" y="4515125"/>
            <a:ext cx="49053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The matrix mismatch causes severe calculation ripples and massive estimation errors. </a:t>
            </a:r>
            <a:endParaRPr/>
          </a:p>
        </p:txBody>
      </p:sp>
      <p:sp>
        <p:nvSpPr>
          <p:cNvPr id="116" name="Google Shape;116;p15"/>
          <p:cNvSpPr txBox="1"/>
          <p:nvPr/>
        </p:nvSpPr>
        <p:spPr>
          <a:xfrm>
            <a:off x="571500" y="554778"/>
            <a:ext cx="77067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11CAA0"/>
                </a:solidFill>
                <a:latin typeface="Merriweather"/>
                <a:ea typeface="Merriweather"/>
                <a:cs typeface="Merriweather"/>
                <a:sym typeface="Merriweather"/>
              </a:rPr>
              <a:t>The Least Squares Method (LSM) </a:t>
            </a:r>
            <a:endParaRPr/>
          </a:p>
        </p:txBody>
      </p:sp>
      <p:pic>
        <p:nvPicPr>
          <p:cNvPr descr="image.png" id="117" name="Google Shape;117;p15"/>
          <p:cNvPicPr preferRelativeResize="0"/>
          <p:nvPr/>
        </p:nvPicPr>
        <p:blipFill rotWithShape="1">
          <a:blip r:embed="rId4">
            <a:alphaModFix/>
          </a:blip>
          <a:srcRect b="0" l="0" r="0" t="0"/>
          <a:stretch/>
        </p:blipFill>
        <p:spPr>
          <a:xfrm>
            <a:off x="6427318" y="3011684"/>
            <a:ext cx="104775" cy="180975"/>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6427318" y="3779914"/>
            <a:ext cx="104775" cy="180975"/>
          </a:xfrm>
          <a:prstGeom prst="rect">
            <a:avLst/>
          </a:prstGeom>
          <a:noFill/>
          <a:ln>
            <a:noFill/>
          </a:ln>
        </p:spPr>
      </p:pic>
      <p:pic>
        <p:nvPicPr>
          <p:cNvPr descr="image.png" id="119" name="Google Shape;119;p15"/>
          <p:cNvPicPr preferRelativeResize="0"/>
          <p:nvPr/>
        </p:nvPicPr>
        <p:blipFill rotWithShape="1">
          <a:blip r:embed="rId4">
            <a:alphaModFix/>
          </a:blip>
          <a:srcRect b="0" l="0" r="0" t="0"/>
          <a:stretch/>
        </p:blipFill>
        <p:spPr>
          <a:xfrm>
            <a:off x="6427318" y="4562750"/>
            <a:ext cx="104775" cy="180975"/>
          </a:xfrm>
          <a:prstGeom prst="rect">
            <a:avLst/>
          </a:prstGeom>
          <a:noFill/>
          <a:ln>
            <a:noFill/>
          </a:ln>
        </p:spPr>
      </p:pic>
      <p:sp>
        <p:nvSpPr>
          <p:cNvPr id="120" name="Google Shape;120;p15"/>
          <p:cNvSpPr txBox="1"/>
          <p:nvPr/>
        </p:nvSpPr>
        <p:spPr>
          <a:xfrm>
            <a:off x="926091" y="1315721"/>
            <a:ext cx="104052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LSM is a time-domain algorithm that estimates the phasor by finding a mathematical curve that best fits the incoming voltage samples. </a:t>
            </a:r>
            <a:endParaRPr/>
          </a:p>
        </p:txBody>
      </p:sp>
      <p:pic>
        <p:nvPicPr>
          <p:cNvPr descr="image.png" id="121" name="Google Shape;121;p15"/>
          <p:cNvPicPr preferRelativeResize="0"/>
          <p:nvPr/>
        </p:nvPicPr>
        <p:blipFill rotWithShape="1">
          <a:blip r:embed="rId4">
            <a:alphaModFix/>
          </a:blip>
          <a:srcRect b="0" l="0" r="0" t="0"/>
          <a:stretch/>
        </p:blipFill>
        <p:spPr>
          <a:xfrm>
            <a:off x="592716" y="1363355"/>
            <a:ext cx="104775" cy="180975"/>
          </a:xfrm>
          <a:prstGeom prst="rect">
            <a:avLst/>
          </a:prstGeom>
          <a:noFill/>
          <a:ln>
            <a:noFill/>
          </a:ln>
        </p:spPr>
      </p:pic>
      <p:pic>
        <p:nvPicPr>
          <p:cNvPr descr="image.png" id="122" name="Google Shape;122;p15"/>
          <p:cNvPicPr preferRelativeResize="0"/>
          <p:nvPr/>
        </p:nvPicPr>
        <p:blipFill rotWithShape="1">
          <a:blip r:embed="rId5">
            <a:alphaModFix/>
          </a:blip>
          <a:srcRect b="0" l="0" r="0" t="0"/>
          <a:stretch/>
        </p:blipFill>
        <p:spPr>
          <a:xfrm>
            <a:off x="594284" y="5977675"/>
            <a:ext cx="95250" cy="135122"/>
          </a:xfrm>
          <a:prstGeom prst="rect">
            <a:avLst/>
          </a:prstGeom>
          <a:noFill/>
          <a:ln>
            <a:noFill/>
          </a:ln>
        </p:spPr>
      </p:pic>
      <p:sp>
        <p:nvSpPr>
          <p:cNvPr id="123" name="Google Shape;123;p15"/>
          <p:cNvSpPr txBox="1"/>
          <p:nvPr/>
        </p:nvSpPr>
        <p:spPr>
          <a:xfrm>
            <a:off x="859684" y="5977675"/>
            <a:ext cx="5500800" cy="7605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SzPts val="1100"/>
              <a:buNone/>
            </a:pPr>
            <a:r>
              <a:rPr lang="en-US" sz="1300">
                <a:solidFill>
                  <a:srgbClr val="F3F0DF"/>
                </a:solidFill>
                <a:latin typeface="DM Sans"/>
                <a:ea typeface="DM Sans"/>
                <a:cs typeface="DM Sans"/>
                <a:sym typeface="DM Sans"/>
              </a:rPr>
              <a:t>Fig. 2. Visualization of the LSM minimizing the vertical errors between the raw data points and the estimated mathematical template. </a:t>
            </a:r>
            <a:endParaRPr sz="1300">
              <a:solidFill>
                <a:srgbClr val="F3F0DF"/>
              </a:solidFill>
              <a:latin typeface="DM Sans"/>
              <a:ea typeface="DM Sans"/>
              <a:cs typeface="DM Sans"/>
              <a:sym typeface="DM Sans"/>
            </a:endParaRPr>
          </a:p>
          <a:p>
            <a:pPr indent="0" lvl="0" marL="0" marR="0" rtl="0" algn="l">
              <a:lnSpc>
                <a:spcPct val="140000"/>
              </a:lnSpc>
              <a:spcBef>
                <a:spcPts val="0"/>
              </a:spcBef>
              <a:spcAft>
                <a:spcPts val="0"/>
              </a:spcAft>
              <a:buNone/>
            </a:pPr>
            <a:r>
              <a:t/>
            </a:r>
            <a:endParaRPr sz="1300">
              <a:solidFill>
                <a:srgbClr val="F3F0DF"/>
              </a:solidFill>
              <a:latin typeface="DM Sans"/>
              <a:ea typeface="DM Sans"/>
              <a:cs typeface="DM Sans"/>
              <a:sym typeface="DM Sans"/>
            </a:endParaRPr>
          </a:p>
        </p:txBody>
      </p:sp>
      <p:pic>
        <p:nvPicPr>
          <p:cNvPr id="124" name="Google Shape;124;p15"/>
          <p:cNvPicPr preferRelativeResize="0"/>
          <p:nvPr/>
        </p:nvPicPr>
        <p:blipFill>
          <a:blip r:embed="rId6">
            <a:alphaModFix/>
          </a:blip>
          <a:stretch>
            <a:fillRect/>
          </a:stretch>
        </p:blipFill>
        <p:spPr>
          <a:xfrm>
            <a:off x="879772" y="2359023"/>
            <a:ext cx="5051675" cy="33789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28" name="Shape 128"/>
        <p:cNvGrpSpPr/>
        <p:nvPr/>
      </p:nvGrpSpPr>
      <p:grpSpPr>
        <a:xfrm>
          <a:off x="0" y="0"/>
          <a:ext cx="0" cy="0"/>
          <a:chOff x="0" y="0"/>
          <a:chExt cx="0" cy="0"/>
        </a:xfrm>
      </p:grpSpPr>
      <p:pic>
        <p:nvPicPr>
          <p:cNvPr descr="image.png" id="129" name="Google Shape;1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0" name="Google Shape;130;p16"/>
          <p:cNvPicPr preferRelativeResize="0"/>
          <p:nvPr/>
        </p:nvPicPr>
        <p:blipFill rotWithShape="1">
          <a:blip r:embed="rId4">
            <a:alphaModFix/>
          </a:blip>
          <a:srcRect b="0" l="0" r="0" t="0"/>
          <a:stretch/>
        </p:blipFill>
        <p:spPr>
          <a:xfrm>
            <a:off x="571500" y="1250450"/>
            <a:ext cx="3492400" cy="5205375"/>
          </a:xfrm>
          <a:prstGeom prst="rect">
            <a:avLst/>
          </a:prstGeom>
          <a:noFill/>
          <a:ln>
            <a:noFill/>
          </a:ln>
        </p:spPr>
      </p:pic>
      <p:sp>
        <p:nvSpPr>
          <p:cNvPr id="131" name="Google Shape;131;p16"/>
          <p:cNvSpPr txBox="1"/>
          <p:nvPr/>
        </p:nvSpPr>
        <p:spPr>
          <a:xfrm>
            <a:off x="904875" y="1597326"/>
            <a:ext cx="301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11CAA0"/>
                </a:solidFill>
                <a:latin typeface="DM Sans Medium"/>
                <a:ea typeface="DM Sans Medium"/>
                <a:cs typeface="DM Sans Medium"/>
                <a:sym typeface="DM Sans Medium"/>
              </a:rPr>
              <a:t>Algorithm</a:t>
            </a:r>
            <a:endParaRPr sz="2000">
              <a:solidFill>
                <a:srgbClr val="11CAA0"/>
              </a:solidFill>
            </a:endParaRPr>
          </a:p>
        </p:txBody>
      </p:sp>
      <p:sp>
        <p:nvSpPr>
          <p:cNvPr id="132" name="Google Shape;132;p16"/>
          <p:cNvSpPr txBox="1"/>
          <p:nvPr/>
        </p:nvSpPr>
        <p:spPr>
          <a:xfrm>
            <a:off x="904875" y="2004369"/>
            <a:ext cx="2873400" cy="5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500">
                <a:solidFill>
                  <a:srgbClr val="F3F0DF"/>
                </a:solidFill>
                <a:latin typeface="DM Sans"/>
                <a:ea typeface="DM Sans"/>
                <a:cs typeface="DM Sans"/>
                <a:sym typeface="DM Sans"/>
              </a:rPr>
              <a:t>Implement both LSM and the frequency domain e-IpDFT.</a:t>
            </a:r>
            <a:endParaRPr sz="1500"/>
          </a:p>
        </p:txBody>
      </p:sp>
      <p:sp>
        <p:nvSpPr>
          <p:cNvPr id="133" name="Google Shape;133;p16"/>
          <p:cNvSpPr txBox="1"/>
          <p:nvPr/>
        </p:nvSpPr>
        <p:spPr>
          <a:xfrm>
            <a:off x="926441" y="3149680"/>
            <a:ext cx="30171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11CAA0"/>
                </a:solidFill>
                <a:latin typeface="DM Sans Medium"/>
                <a:ea typeface="DM Sans Medium"/>
                <a:cs typeface="DM Sans Medium"/>
                <a:sym typeface="DM Sans Medium"/>
              </a:rPr>
              <a:t>Deployment</a:t>
            </a:r>
            <a:endParaRPr sz="2000">
              <a:solidFill>
                <a:srgbClr val="11CAA0"/>
              </a:solidFill>
            </a:endParaRPr>
          </a:p>
        </p:txBody>
      </p:sp>
      <p:sp>
        <p:nvSpPr>
          <p:cNvPr id="134" name="Google Shape;134;p16"/>
          <p:cNvSpPr txBox="1"/>
          <p:nvPr/>
        </p:nvSpPr>
        <p:spPr>
          <a:xfrm>
            <a:off x="926441" y="3579506"/>
            <a:ext cx="2873400" cy="87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3F0DF"/>
                </a:solidFill>
                <a:latin typeface="DM Sans"/>
                <a:ea typeface="DM Sans"/>
                <a:cs typeface="DM Sans"/>
                <a:sym typeface="DM Sans"/>
              </a:rPr>
              <a:t>Deploy both LSM and e-IpDFT </a:t>
            </a:r>
            <a:r>
              <a:rPr lang="en-US" sz="1500">
                <a:solidFill>
                  <a:srgbClr val="F3F0DF"/>
                </a:solidFill>
                <a:latin typeface="DM Sans"/>
                <a:ea typeface="DM Sans"/>
                <a:cs typeface="DM Sans"/>
                <a:sym typeface="DM Sans"/>
              </a:rPr>
              <a:t>simultaneously</a:t>
            </a:r>
            <a:r>
              <a:rPr b="0" i="0" lang="en-US" sz="1500" u="none" cap="none" strike="noStrike">
                <a:solidFill>
                  <a:srgbClr val="F3F0DF"/>
                </a:solidFill>
                <a:latin typeface="DM Sans"/>
                <a:ea typeface="DM Sans"/>
                <a:cs typeface="DM Sans"/>
                <a:sym typeface="DM Sans"/>
              </a:rPr>
              <a:t> on a Raspberry Pi / BBB setup.</a:t>
            </a:r>
            <a:endParaRPr sz="1500"/>
          </a:p>
        </p:txBody>
      </p:sp>
      <p:sp>
        <p:nvSpPr>
          <p:cNvPr id="135" name="Google Shape;135;p16"/>
          <p:cNvSpPr txBox="1"/>
          <p:nvPr/>
        </p:nvSpPr>
        <p:spPr>
          <a:xfrm>
            <a:off x="948157" y="5031896"/>
            <a:ext cx="3016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11CAA0"/>
                </a:solidFill>
                <a:latin typeface="DM Sans Medium"/>
                <a:ea typeface="DM Sans Medium"/>
                <a:cs typeface="DM Sans Medium"/>
                <a:sym typeface="DM Sans Medium"/>
              </a:rPr>
              <a:t>Validation</a:t>
            </a:r>
            <a:endParaRPr sz="2000">
              <a:solidFill>
                <a:srgbClr val="11CAA0"/>
              </a:solidFill>
            </a:endParaRPr>
          </a:p>
        </p:txBody>
      </p:sp>
      <p:sp>
        <p:nvSpPr>
          <p:cNvPr id="136" name="Google Shape;136;p16"/>
          <p:cNvSpPr txBox="1"/>
          <p:nvPr/>
        </p:nvSpPr>
        <p:spPr>
          <a:xfrm>
            <a:off x="948157" y="5416154"/>
            <a:ext cx="2873400" cy="5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3F0DF"/>
                </a:solidFill>
                <a:latin typeface="DM Sans"/>
                <a:ea typeface="DM Sans"/>
                <a:cs typeface="DM Sans"/>
                <a:sym typeface="DM Sans"/>
              </a:rPr>
              <a:t>Must meet IEEE C37.118 </a:t>
            </a:r>
            <a:r>
              <a:rPr i="0" lang="en-US" sz="1500" u="none" cap="none" strike="noStrike">
                <a:solidFill>
                  <a:srgbClr val="F3F0DF"/>
                </a:solidFill>
                <a:latin typeface="DM Sans"/>
                <a:ea typeface="DM Sans"/>
                <a:cs typeface="DM Sans"/>
                <a:sym typeface="DM Sans"/>
              </a:rPr>
              <a:t>P-Class (Protection)</a:t>
            </a:r>
            <a:r>
              <a:rPr b="0" i="0" lang="en-US" sz="1500" u="none" cap="none" strike="noStrike">
                <a:solidFill>
                  <a:srgbClr val="F3F0DF"/>
                </a:solidFill>
                <a:latin typeface="DM Sans"/>
                <a:ea typeface="DM Sans"/>
                <a:cs typeface="DM Sans"/>
                <a:sym typeface="DM Sans"/>
              </a:rPr>
              <a:t> steady-state limits.</a:t>
            </a:r>
            <a:endParaRPr sz="1500"/>
          </a:p>
        </p:txBody>
      </p:sp>
      <p:sp>
        <p:nvSpPr>
          <p:cNvPr id="137" name="Google Shape;137;p16"/>
          <p:cNvSpPr txBox="1"/>
          <p:nvPr/>
        </p:nvSpPr>
        <p:spPr>
          <a:xfrm>
            <a:off x="571500" y="440846"/>
            <a:ext cx="7350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Project Scope and Success Criteria</a:t>
            </a:r>
            <a:endParaRPr/>
          </a:p>
        </p:txBody>
      </p:sp>
      <p:pic>
        <p:nvPicPr>
          <p:cNvPr id="138" name="Google Shape;138;p16" title="PMUimage.jpg"/>
          <p:cNvPicPr preferRelativeResize="0"/>
          <p:nvPr/>
        </p:nvPicPr>
        <p:blipFill>
          <a:blip r:embed="rId5">
            <a:alphaModFix/>
          </a:blip>
          <a:stretch>
            <a:fillRect/>
          </a:stretch>
        </p:blipFill>
        <p:spPr>
          <a:xfrm>
            <a:off x="5293525" y="1296025"/>
            <a:ext cx="5784602" cy="4338463"/>
          </a:xfrm>
          <a:prstGeom prst="rect">
            <a:avLst/>
          </a:prstGeom>
          <a:noFill/>
          <a:ln>
            <a:noFill/>
          </a:ln>
        </p:spPr>
      </p:pic>
      <p:pic>
        <p:nvPicPr>
          <p:cNvPr descr="image.png" id="139" name="Google Shape;139;p16"/>
          <p:cNvPicPr preferRelativeResize="0"/>
          <p:nvPr/>
        </p:nvPicPr>
        <p:blipFill rotWithShape="1">
          <a:blip r:embed="rId6">
            <a:alphaModFix/>
          </a:blip>
          <a:srcRect b="0" l="0" r="0" t="0"/>
          <a:stretch/>
        </p:blipFill>
        <p:spPr>
          <a:xfrm>
            <a:off x="5281200" y="5847132"/>
            <a:ext cx="95250" cy="135122"/>
          </a:xfrm>
          <a:prstGeom prst="rect">
            <a:avLst/>
          </a:prstGeom>
          <a:noFill/>
          <a:ln>
            <a:noFill/>
          </a:ln>
        </p:spPr>
      </p:pic>
      <p:sp>
        <p:nvSpPr>
          <p:cNvPr id="140" name="Google Shape;140;p16"/>
          <p:cNvSpPr txBox="1"/>
          <p:nvPr/>
        </p:nvSpPr>
        <p:spPr>
          <a:xfrm>
            <a:off x="5546600" y="5847125"/>
            <a:ext cx="5784600" cy="7605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SzPts val="1100"/>
              <a:buNone/>
            </a:pPr>
            <a:r>
              <a:rPr lang="en-US" sz="1300">
                <a:solidFill>
                  <a:srgbClr val="F3F0DF"/>
                </a:solidFill>
                <a:latin typeface="DM Sans"/>
                <a:ea typeface="DM Sans"/>
                <a:cs typeface="DM Sans"/>
                <a:sym typeface="DM Sans"/>
              </a:rPr>
              <a:t>Fig. 3. Physical PMU prototype at KTH, featuring the BeagleBone Black (with custom ADC board), GPS module, AC/DC converter, and Raspberry Pi.</a:t>
            </a:r>
            <a:endParaRPr sz="1300">
              <a:solidFill>
                <a:srgbClr val="F3F0DF"/>
              </a:solidFill>
              <a:latin typeface="DM Sans"/>
              <a:ea typeface="DM Sans"/>
              <a:cs typeface="DM Sans"/>
              <a:sym typeface="DM Sans"/>
            </a:endParaRPr>
          </a:p>
          <a:p>
            <a:pPr indent="0" lvl="0" marL="0" marR="0" rtl="0" algn="l">
              <a:lnSpc>
                <a:spcPct val="140000"/>
              </a:lnSpc>
              <a:spcBef>
                <a:spcPts val="0"/>
              </a:spcBef>
              <a:spcAft>
                <a:spcPts val="0"/>
              </a:spcAft>
              <a:buNone/>
            </a:pPr>
            <a:r>
              <a:t/>
            </a:r>
            <a:endParaRPr sz="1300">
              <a:solidFill>
                <a:srgbClr val="F3F0DF"/>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44" name="Shape 144"/>
        <p:cNvGrpSpPr/>
        <p:nvPr/>
      </p:nvGrpSpPr>
      <p:grpSpPr>
        <a:xfrm>
          <a:off x="0" y="0"/>
          <a:ext cx="0" cy="0"/>
          <a:chOff x="0" y="0"/>
          <a:chExt cx="0" cy="0"/>
        </a:xfrm>
      </p:grpSpPr>
      <p:pic>
        <p:nvPicPr>
          <p:cNvPr descr="image.png" id="145" name="Google Shape;145;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6" name="Google Shape;146;p17"/>
          <p:cNvSpPr txBox="1"/>
          <p:nvPr/>
        </p:nvSpPr>
        <p:spPr>
          <a:xfrm>
            <a:off x="571500" y="1470425"/>
            <a:ext cx="51093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F3F0DF"/>
                </a:solidFill>
                <a:latin typeface="DM Sans Medium"/>
                <a:ea typeface="DM Sans Medium"/>
                <a:cs typeface="DM Sans Medium"/>
                <a:sym typeface="DM Sans Medium"/>
              </a:rPr>
              <a:t>The e-IpDFT calculates the actual frequency peak using three steps:</a:t>
            </a:r>
            <a:endParaRPr sz="1800"/>
          </a:p>
        </p:txBody>
      </p:sp>
      <p:sp>
        <p:nvSpPr>
          <p:cNvPr id="147" name="Google Shape;147;p17"/>
          <p:cNvSpPr txBox="1"/>
          <p:nvPr/>
        </p:nvSpPr>
        <p:spPr>
          <a:xfrm>
            <a:off x="676275" y="2381087"/>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Hanning Window:</a:t>
            </a:r>
            <a:r>
              <a:rPr b="0" i="0" lang="en-US" sz="1800" u="none" cap="none" strike="noStrike">
                <a:solidFill>
                  <a:srgbClr val="F3F0DF"/>
                </a:solidFill>
                <a:latin typeface="DM Sans"/>
                <a:ea typeface="DM Sans"/>
                <a:cs typeface="DM Sans"/>
                <a:sym typeface="DM Sans"/>
              </a:rPr>
              <a:t> </a:t>
            </a:r>
            <a:r>
              <a:rPr lang="en-US" sz="1800">
                <a:solidFill>
                  <a:srgbClr val="F3F0DF"/>
                </a:solidFill>
                <a:latin typeface="DM Sans"/>
                <a:ea typeface="DM Sans"/>
                <a:cs typeface="DM Sans"/>
                <a:sym typeface="DM Sans"/>
              </a:rPr>
              <a:t>Tapers the signal edges to zero, heavily reducing spectral leakage.</a:t>
            </a:r>
            <a:endParaRPr/>
          </a:p>
        </p:txBody>
      </p:sp>
      <p:sp>
        <p:nvSpPr>
          <p:cNvPr id="148" name="Google Shape;148;p17"/>
          <p:cNvSpPr txBox="1"/>
          <p:nvPr/>
        </p:nvSpPr>
        <p:spPr>
          <a:xfrm>
            <a:off x="676275" y="3316323"/>
            <a:ext cx="49053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Fractional Bin Offset:</a:t>
            </a:r>
            <a:r>
              <a:rPr b="0" i="0" lang="en-US" sz="1800" u="none" cap="none" strike="noStrike">
                <a:solidFill>
                  <a:srgbClr val="F3F0DF"/>
                </a:solidFill>
                <a:latin typeface="DM Sans"/>
                <a:ea typeface="DM Sans"/>
                <a:cs typeface="DM Sans"/>
                <a:sym typeface="DM Sans"/>
              </a:rPr>
              <a:t> </a:t>
            </a:r>
            <a:r>
              <a:rPr lang="en-US" sz="1800">
                <a:solidFill>
                  <a:srgbClr val="F3F0DF"/>
                </a:solidFill>
                <a:latin typeface="DM Sans"/>
                <a:ea typeface="DM Sans"/>
                <a:cs typeface="DM Sans"/>
                <a:sym typeface="DM Sans"/>
              </a:rPr>
              <a:t>Interpolates between the two highest discrete frequency bins to find the exact off-nominal frequency.</a:t>
            </a:r>
            <a:endParaRPr/>
          </a:p>
        </p:txBody>
      </p:sp>
      <p:sp>
        <p:nvSpPr>
          <p:cNvPr id="149" name="Google Shape;149;p17"/>
          <p:cNvSpPr txBox="1"/>
          <p:nvPr/>
        </p:nvSpPr>
        <p:spPr>
          <a:xfrm>
            <a:off x="676275" y="4571540"/>
            <a:ext cx="49053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Negative Image Compensation</a:t>
            </a:r>
            <a:r>
              <a:rPr b="1" i="0" lang="en-US" sz="1800" u="none" cap="none" strike="noStrike">
                <a:solidFill>
                  <a:srgbClr val="F3F0DF"/>
                </a:solidFill>
                <a:latin typeface="DM Sans"/>
                <a:ea typeface="DM Sans"/>
                <a:cs typeface="DM Sans"/>
                <a:sym typeface="DM Sans"/>
              </a:rPr>
              <a:t>: </a:t>
            </a:r>
            <a:r>
              <a:rPr lang="en-US" sz="1800">
                <a:solidFill>
                  <a:srgbClr val="F3F0DF"/>
                </a:solidFill>
                <a:latin typeface="DM Sans"/>
                <a:ea typeface="DM Sans"/>
                <a:cs typeface="DM Sans"/>
                <a:sym typeface="DM Sans"/>
              </a:rPr>
              <a:t>Iteratively calculates and subtracts the interference caused by the negative frequency spectrum across the zero-axis.</a:t>
            </a:r>
            <a:endParaRPr/>
          </a:p>
        </p:txBody>
      </p:sp>
      <p:sp>
        <p:nvSpPr>
          <p:cNvPr id="150" name="Google Shape;150;p17"/>
          <p:cNvSpPr txBox="1"/>
          <p:nvPr/>
        </p:nvSpPr>
        <p:spPr>
          <a:xfrm>
            <a:off x="571500" y="538311"/>
            <a:ext cx="6000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Proposed Solution: e-IpDFT</a:t>
            </a:r>
            <a:endParaRPr/>
          </a:p>
        </p:txBody>
      </p:sp>
      <p:pic>
        <p:nvPicPr>
          <p:cNvPr descr="image.png" id="151" name="Google Shape;151;p17"/>
          <p:cNvPicPr preferRelativeResize="0"/>
          <p:nvPr/>
        </p:nvPicPr>
        <p:blipFill rotWithShape="1">
          <a:blip r:embed="rId4">
            <a:alphaModFix/>
          </a:blip>
          <a:srcRect b="0" l="0" r="0" t="0"/>
          <a:stretch/>
        </p:blipFill>
        <p:spPr>
          <a:xfrm>
            <a:off x="342900" y="2428712"/>
            <a:ext cx="104775" cy="180975"/>
          </a:xfrm>
          <a:prstGeom prst="rect">
            <a:avLst/>
          </a:prstGeom>
          <a:noFill/>
          <a:ln>
            <a:noFill/>
          </a:ln>
        </p:spPr>
      </p:pic>
      <p:pic>
        <p:nvPicPr>
          <p:cNvPr descr="image.png" id="152" name="Google Shape;152;p17"/>
          <p:cNvPicPr preferRelativeResize="0"/>
          <p:nvPr/>
        </p:nvPicPr>
        <p:blipFill rotWithShape="1">
          <a:blip r:embed="rId4">
            <a:alphaModFix/>
          </a:blip>
          <a:srcRect b="0" l="0" r="0" t="0"/>
          <a:stretch/>
        </p:blipFill>
        <p:spPr>
          <a:xfrm>
            <a:off x="342900" y="3363948"/>
            <a:ext cx="104775" cy="180975"/>
          </a:xfrm>
          <a:prstGeom prst="rect">
            <a:avLst/>
          </a:prstGeom>
          <a:noFill/>
          <a:ln>
            <a:noFill/>
          </a:ln>
        </p:spPr>
      </p:pic>
      <p:pic>
        <p:nvPicPr>
          <p:cNvPr descr="image.png" id="153" name="Google Shape;153;p17"/>
          <p:cNvPicPr preferRelativeResize="0"/>
          <p:nvPr/>
        </p:nvPicPr>
        <p:blipFill rotWithShape="1">
          <a:blip r:embed="rId4">
            <a:alphaModFix/>
          </a:blip>
          <a:srcRect b="0" l="0" r="0" t="0"/>
          <a:stretch/>
        </p:blipFill>
        <p:spPr>
          <a:xfrm>
            <a:off x="342900" y="4619165"/>
            <a:ext cx="104775" cy="180975"/>
          </a:xfrm>
          <a:prstGeom prst="rect">
            <a:avLst/>
          </a:prstGeom>
          <a:noFill/>
          <a:ln>
            <a:noFill/>
          </a:ln>
        </p:spPr>
      </p:pic>
      <p:pic>
        <p:nvPicPr>
          <p:cNvPr id="154" name="Google Shape;154;p17" title="ghost_interference.png"/>
          <p:cNvPicPr preferRelativeResize="0"/>
          <p:nvPr/>
        </p:nvPicPr>
        <p:blipFill>
          <a:blip r:embed="rId5">
            <a:alphaModFix/>
          </a:blip>
          <a:stretch>
            <a:fillRect/>
          </a:stretch>
        </p:blipFill>
        <p:spPr>
          <a:xfrm>
            <a:off x="6136425" y="1470426"/>
            <a:ext cx="5515175" cy="4079699"/>
          </a:xfrm>
          <a:prstGeom prst="rect">
            <a:avLst/>
          </a:prstGeom>
          <a:noFill/>
          <a:ln>
            <a:noFill/>
          </a:ln>
        </p:spPr>
      </p:pic>
      <p:pic>
        <p:nvPicPr>
          <p:cNvPr descr="image.png" id="155" name="Google Shape;155;p17"/>
          <p:cNvPicPr preferRelativeResize="0"/>
          <p:nvPr/>
        </p:nvPicPr>
        <p:blipFill rotWithShape="1">
          <a:blip r:embed="rId6">
            <a:alphaModFix/>
          </a:blip>
          <a:srcRect b="0" l="0" r="0" t="0"/>
          <a:stretch/>
        </p:blipFill>
        <p:spPr>
          <a:xfrm>
            <a:off x="5869000" y="5745757"/>
            <a:ext cx="95250" cy="135122"/>
          </a:xfrm>
          <a:prstGeom prst="rect">
            <a:avLst/>
          </a:prstGeom>
          <a:noFill/>
          <a:ln>
            <a:noFill/>
          </a:ln>
        </p:spPr>
      </p:pic>
      <p:sp>
        <p:nvSpPr>
          <p:cNvPr id="156" name="Google Shape;156;p17"/>
          <p:cNvSpPr txBox="1"/>
          <p:nvPr/>
        </p:nvSpPr>
        <p:spPr>
          <a:xfrm>
            <a:off x="6134400" y="5745750"/>
            <a:ext cx="5784600" cy="7605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SzPts val="1100"/>
              <a:buNone/>
            </a:pPr>
            <a:r>
              <a:rPr lang="en-US" sz="1300">
                <a:solidFill>
                  <a:srgbClr val="F3F0DF"/>
                </a:solidFill>
                <a:latin typeface="DM Sans"/>
                <a:ea typeface="DM Sans"/>
                <a:cs typeface="DM Sans"/>
                <a:sym typeface="DM Sans"/>
              </a:rPr>
              <a:t>Fig. 4. Continuous spectral leakage from the negative frequency image crosses the zero-axis, artificially corrupting the positive frequency bins.</a:t>
            </a:r>
            <a:endParaRPr sz="1300">
              <a:solidFill>
                <a:srgbClr val="F3F0DF"/>
              </a:solidFill>
              <a:latin typeface="DM Sans"/>
              <a:ea typeface="DM Sans"/>
              <a:cs typeface="DM Sans"/>
              <a:sym typeface="DM Sans"/>
            </a:endParaRPr>
          </a:p>
          <a:p>
            <a:pPr indent="0" lvl="0" marL="0" marR="0" rtl="0" algn="l">
              <a:lnSpc>
                <a:spcPct val="140000"/>
              </a:lnSpc>
              <a:spcBef>
                <a:spcPts val="0"/>
              </a:spcBef>
              <a:spcAft>
                <a:spcPts val="0"/>
              </a:spcAft>
              <a:buNone/>
            </a:pPr>
            <a:r>
              <a:t/>
            </a:r>
            <a:endParaRPr sz="1300">
              <a:solidFill>
                <a:srgbClr val="F3F0DF"/>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60" name="Shape 160"/>
        <p:cNvGrpSpPr/>
        <p:nvPr/>
      </p:nvGrpSpPr>
      <p:grpSpPr>
        <a:xfrm>
          <a:off x="0" y="0"/>
          <a:ext cx="0" cy="0"/>
          <a:chOff x="0" y="0"/>
          <a:chExt cx="0" cy="0"/>
        </a:xfrm>
      </p:grpSpPr>
      <p:sp>
        <p:nvSpPr>
          <p:cNvPr id="161" name="Google Shape;161;p18"/>
          <p:cNvSpPr txBox="1"/>
          <p:nvPr/>
        </p:nvSpPr>
        <p:spPr>
          <a:xfrm>
            <a:off x="5803000" y="1105234"/>
            <a:ext cx="55008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F3F0DF"/>
                </a:solidFill>
                <a:latin typeface="DM Sans Medium"/>
                <a:ea typeface="DM Sans Medium"/>
                <a:cs typeface="DM Sans Medium"/>
                <a:sym typeface="DM Sans Medium"/>
              </a:rPr>
              <a:t>The Measurement Flow: </a:t>
            </a:r>
            <a:endParaRPr/>
          </a:p>
        </p:txBody>
      </p:sp>
      <p:sp>
        <p:nvSpPr>
          <p:cNvPr id="162" name="Google Shape;162;p18"/>
          <p:cNvSpPr txBox="1"/>
          <p:nvPr/>
        </p:nvSpPr>
        <p:spPr>
          <a:xfrm>
            <a:off x="6136375" y="2841175"/>
            <a:ext cx="55746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Data Ingestion (MulticastSV)</a:t>
            </a:r>
            <a:r>
              <a:rPr lang="en-US" sz="1800">
                <a:solidFill>
                  <a:srgbClr val="F3F0DF"/>
                </a:solidFill>
                <a:latin typeface="DM Sans"/>
                <a:ea typeface="DM Sans"/>
                <a:cs typeface="DM Sans"/>
                <a:sym typeface="DM Sans"/>
              </a:rPr>
              <a:t>: Ingests raw 10 kHz voltage samples from the BeagleBone hardware.</a:t>
            </a:r>
            <a:endParaRPr/>
          </a:p>
        </p:txBody>
      </p:sp>
      <p:sp>
        <p:nvSpPr>
          <p:cNvPr id="163" name="Google Shape;163;p18"/>
          <p:cNvSpPr txBox="1"/>
          <p:nvPr/>
        </p:nvSpPr>
        <p:spPr>
          <a:xfrm>
            <a:off x="6136375" y="3776425"/>
            <a:ext cx="55008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Core Processing (PhasorEst): </a:t>
            </a:r>
            <a:r>
              <a:rPr lang="en-US" sz="1800">
                <a:solidFill>
                  <a:srgbClr val="F3F0DF"/>
                </a:solidFill>
                <a:latin typeface="DM Sans"/>
                <a:ea typeface="DM Sans"/>
                <a:cs typeface="DM Sans"/>
                <a:sym typeface="DM Sans"/>
              </a:rPr>
              <a:t>Extracts the phasor. To handle the 10,000 Hz bottleneck, the heavy e-IpDFT math is executed here using a compiled C++ shared library. </a:t>
            </a:r>
            <a:endParaRPr/>
          </a:p>
        </p:txBody>
      </p:sp>
      <p:sp>
        <p:nvSpPr>
          <p:cNvPr id="164" name="Google Shape;164;p18"/>
          <p:cNvSpPr txBox="1"/>
          <p:nvPr/>
        </p:nvSpPr>
        <p:spPr>
          <a:xfrm>
            <a:off x="419100" y="385900"/>
            <a:ext cx="108597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11CAA0"/>
                </a:solidFill>
                <a:latin typeface="Merriweather"/>
                <a:ea typeface="Merriweather"/>
                <a:cs typeface="Merriweather"/>
                <a:sym typeface="Merriweather"/>
              </a:rPr>
              <a:t>System Architecture: The Modular Pipeline  </a:t>
            </a:r>
            <a:endParaRPr/>
          </a:p>
        </p:txBody>
      </p:sp>
      <p:pic>
        <p:nvPicPr>
          <p:cNvPr descr="image.png" id="165" name="Google Shape;165;p18"/>
          <p:cNvPicPr preferRelativeResize="0"/>
          <p:nvPr/>
        </p:nvPicPr>
        <p:blipFill rotWithShape="1">
          <a:blip r:embed="rId3">
            <a:alphaModFix/>
          </a:blip>
          <a:srcRect b="0" l="0" r="0" t="0"/>
          <a:stretch/>
        </p:blipFill>
        <p:spPr>
          <a:xfrm>
            <a:off x="5803000" y="2888809"/>
            <a:ext cx="104775" cy="180975"/>
          </a:xfrm>
          <a:prstGeom prst="rect">
            <a:avLst/>
          </a:prstGeom>
          <a:noFill/>
          <a:ln>
            <a:noFill/>
          </a:ln>
        </p:spPr>
      </p:pic>
      <p:pic>
        <p:nvPicPr>
          <p:cNvPr descr="image.png" id="166" name="Google Shape;166;p18"/>
          <p:cNvPicPr preferRelativeResize="0"/>
          <p:nvPr/>
        </p:nvPicPr>
        <p:blipFill rotWithShape="1">
          <a:blip r:embed="rId3">
            <a:alphaModFix/>
          </a:blip>
          <a:srcRect b="0" l="0" r="0" t="0"/>
          <a:stretch/>
        </p:blipFill>
        <p:spPr>
          <a:xfrm>
            <a:off x="5803000" y="3824045"/>
            <a:ext cx="104775" cy="180975"/>
          </a:xfrm>
          <a:prstGeom prst="rect">
            <a:avLst/>
          </a:prstGeom>
          <a:noFill/>
          <a:ln>
            <a:noFill/>
          </a:ln>
        </p:spPr>
      </p:pic>
      <p:sp>
        <p:nvSpPr>
          <p:cNvPr id="167" name="Google Shape;167;p18"/>
          <p:cNvSpPr txBox="1"/>
          <p:nvPr/>
        </p:nvSpPr>
        <p:spPr>
          <a:xfrm>
            <a:off x="6136375" y="1609775"/>
            <a:ext cx="57393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Independent scripts communicate over an internal multicast bus, allowing the math engine to be upgraded without breaking network logic.  </a:t>
            </a:r>
            <a:endParaRPr/>
          </a:p>
        </p:txBody>
      </p:sp>
      <p:pic>
        <p:nvPicPr>
          <p:cNvPr descr="image.png" id="168" name="Google Shape;168;p18"/>
          <p:cNvPicPr preferRelativeResize="0"/>
          <p:nvPr/>
        </p:nvPicPr>
        <p:blipFill rotWithShape="1">
          <a:blip r:embed="rId3">
            <a:alphaModFix/>
          </a:blip>
          <a:srcRect b="0" l="0" r="0" t="0"/>
          <a:stretch/>
        </p:blipFill>
        <p:spPr>
          <a:xfrm>
            <a:off x="5803000" y="1657409"/>
            <a:ext cx="104775" cy="180975"/>
          </a:xfrm>
          <a:prstGeom prst="rect">
            <a:avLst/>
          </a:prstGeom>
          <a:noFill/>
          <a:ln>
            <a:noFill/>
          </a:ln>
        </p:spPr>
      </p:pic>
      <p:pic>
        <p:nvPicPr>
          <p:cNvPr descr="image.png" id="169" name="Google Shape;169;p18"/>
          <p:cNvPicPr preferRelativeResize="0"/>
          <p:nvPr/>
        </p:nvPicPr>
        <p:blipFill rotWithShape="1">
          <a:blip r:embed="rId4">
            <a:alphaModFix/>
          </a:blip>
          <a:srcRect b="0" l="0" r="0" t="0"/>
          <a:stretch/>
        </p:blipFill>
        <p:spPr>
          <a:xfrm>
            <a:off x="342900" y="5681432"/>
            <a:ext cx="95250" cy="135122"/>
          </a:xfrm>
          <a:prstGeom prst="rect">
            <a:avLst/>
          </a:prstGeom>
          <a:noFill/>
          <a:ln>
            <a:noFill/>
          </a:ln>
        </p:spPr>
      </p:pic>
      <p:sp>
        <p:nvSpPr>
          <p:cNvPr id="170" name="Google Shape;170;p18"/>
          <p:cNvSpPr txBox="1"/>
          <p:nvPr/>
        </p:nvSpPr>
        <p:spPr>
          <a:xfrm>
            <a:off x="608300" y="5681425"/>
            <a:ext cx="4561800" cy="76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300">
                <a:solidFill>
                  <a:srgbClr val="F3F0DF"/>
                </a:solidFill>
                <a:latin typeface="DM Sans"/>
                <a:ea typeface="DM Sans"/>
                <a:cs typeface="DM Sans"/>
                <a:sym typeface="DM Sans"/>
              </a:rPr>
              <a:t>Fig. 5. The OpenPMU modular software pipeline. Raw 10 kHz hardware samples are ingested, processed by the central PhasorEst engine, and packaged for secure transmission. </a:t>
            </a:r>
            <a:endParaRPr sz="1300">
              <a:solidFill>
                <a:srgbClr val="F3F0DF"/>
              </a:solidFill>
              <a:latin typeface="DM Sans"/>
              <a:ea typeface="DM Sans"/>
              <a:cs typeface="DM Sans"/>
              <a:sym typeface="DM Sans"/>
            </a:endParaRPr>
          </a:p>
        </p:txBody>
      </p:sp>
      <p:sp>
        <p:nvSpPr>
          <p:cNvPr id="171" name="Google Shape;171;p18"/>
          <p:cNvSpPr txBox="1"/>
          <p:nvPr/>
        </p:nvSpPr>
        <p:spPr>
          <a:xfrm>
            <a:off x="6136375" y="5452825"/>
            <a:ext cx="55008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Data Dispatch (Telecom): </a:t>
            </a:r>
            <a:r>
              <a:rPr lang="en-US" sz="1800">
                <a:solidFill>
                  <a:srgbClr val="F3F0DF"/>
                </a:solidFill>
                <a:latin typeface="DM Sans"/>
                <a:ea typeface="DM Sans"/>
                <a:cs typeface="DM Sans"/>
                <a:sym typeface="DM Sans"/>
              </a:rPr>
              <a:t>Packages the results into the IEEE C37.118 protocol and streams them over a secure VPN to the remote data concentrator.</a:t>
            </a:r>
            <a:endParaRPr/>
          </a:p>
        </p:txBody>
      </p:sp>
      <p:pic>
        <p:nvPicPr>
          <p:cNvPr descr="image.png" id="172" name="Google Shape;172;p18"/>
          <p:cNvPicPr preferRelativeResize="0"/>
          <p:nvPr/>
        </p:nvPicPr>
        <p:blipFill rotWithShape="1">
          <a:blip r:embed="rId3">
            <a:alphaModFix/>
          </a:blip>
          <a:srcRect b="0" l="0" r="0" t="0"/>
          <a:stretch/>
        </p:blipFill>
        <p:spPr>
          <a:xfrm>
            <a:off x="5803000" y="5500445"/>
            <a:ext cx="104775" cy="180975"/>
          </a:xfrm>
          <a:prstGeom prst="rect">
            <a:avLst/>
          </a:prstGeom>
          <a:noFill/>
          <a:ln>
            <a:noFill/>
          </a:ln>
        </p:spPr>
      </p:pic>
      <p:pic>
        <p:nvPicPr>
          <p:cNvPr id="173" name="Google Shape;173;p18" title="PMUinternal-1.png"/>
          <p:cNvPicPr preferRelativeResize="0"/>
          <p:nvPr/>
        </p:nvPicPr>
        <p:blipFill>
          <a:blip r:embed="rId5">
            <a:alphaModFix/>
          </a:blip>
          <a:stretch>
            <a:fillRect/>
          </a:stretch>
        </p:blipFill>
        <p:spPr>
          <a:xfrm>
            <a:off x="971550" y="1198600"/>
            <a:ext cx="3483567" cy="43284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77" name="Shape 177"/>
        <p:cNvGrpSpPr/>
        <p:nvPr/>
      </p:nvGrpSpPr>
      <p:grpSpPr>
        <a:xfrm>
          <a:off x="0" y="0"/>
          <a:ext cx="0" cy="0"/>
          <a:chOff x="0" y="0"/>
          <a:chExt cx="0" cy="0"/>
        </a:xfrm>
      </p:grpSpPr>
      <p:pic>
        <p:nvPicPr>
          <p:cNvPr descr="image.png" id="178" name="Google Shape;178;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9" name="Google Shape;179;p19"/>
          <p:cNvSpPr txBox="1"/>
          <p:nvPr/>
        </p:nvSpPr>
        <p:spPr>
          <a:xfrm>
            <a:off x="495300" y="1569041"/>
            <a:ext cx="5500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F3F0DF"/>
                </a:solidFill>
                <a:latin typeface="DM Sans Medium"/>
                <a:ea typeface="DM Sans Medium"/>
                <a:cs typeface="DM Sans Medium"/>
                <a:sym typeface="DM Sans Medium"/>
              </a:rPr>
              <a:t>IEEE C37.118 Error Metrics</a:t>
            </a:r>
            <a:endParaRPr sz="2000"/>
          </a:p>
        </p:txBody>
      </p:sp>
      <p:sp>
        <p:nvSpPr>
          <p:cNvPr id="180" name="Google Shape;180;p19"/>
          <p:cNvSpPr txBox="1"/>
          <p:nvPr/>
        </p:nvSpPr>
        <p:spPr>
          <a:xfrm>
            <a:off x="828675" y="2121489"/>
            <a:ext cx="3184800" cy="5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500">
                <a:solidFill>
                  <a:srgbClr val="F3F0DF"/>
                </a:solidFill>
                <a:latin typeface="DM Sans"/>
                <a:ea typeface="DM Sans"/>
                <a:cs typeface="DM Sans"/>
                <a:sym typeface="DM Sans"/>
              </a:rPr>
              <a:t>TVE: </a:t>
            </a:r>
            <a:r>
              <a:rPr lang="en-US" sz="1500">
                <a:solidFill>
                  <a:srgbClr val="F3F0DF"/>
                </a:solidFill>
                <a:latin typeface="DM Sans"/>
                <a:ea typeface="DM Sans"/>
                <a:cs typeface="DM Sans"/>
                <a:sym typeface="DM Sans"/>
              </a:rPr>
              <a:t>Total Vector Error (Complex phasor difference). Limit: 1.0%</a:t>
            </a:r>
            <a:endParaRPr sz="1500"/>
          </a:p>
        </p:txBody>
      </p:sp>
      <p:sp>
        <p:nvSpPr>
          <p:cNvPr id="181" name="Google Shape;181;p19"/>
          <p:cNvSpPr txBox="1"/>
          <p:nvPr/>
        </p:nvSpPr>
        <p:spPr>
          <a:xfrm>
            <a:off x="828675" y="2904327"/>
            <a:ext cx="4905300" cy="23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500">
                <a:solidFill>
                  <a:srgbClr val="F3F0DF"/>
                </a:solidFill>
                <a:latin typeface="DM Sans"/>
                <a:ea typeface="DM Sans"/>
                <a:cs typeface="DM Sans"/>
                <a:sym typeface="DM Sans"/>
              </a:rPr>
              <a:t>FE: </a:t>
            </a:r>
            <a:r>
              <a:rPr lang="en-US" sz="1500">
                <a:solidFill>
                  <a:srgbClr val="F3F0DF"/>
                </a:solidFill>
                <a:latin typeface="DM Sans"/>
                <a:ea typeface="DM Sans"/>
                <a:cs typeface="DM Sans"/>
                <a:sym typeface="DM Sans"/>
              </a:rPr>
              <a:t>Frequency Error. Limit: 0.005 Hz</a:t>
            </a:r>
            <a:endParaRPr sz="1500"/>
          </a:p>
        </p:txBody>
      </p:sp>
      <p:sp>
        <p:nvSpPr>
          <p:cNvPr id="182" name="Google Shape;182;p19"/>
          <p:cNvSpPr txBox="1"/>
          <p:nvPr/>
        </p:nvSpPr>
        <p:spPr>
          <a:xfrm>
            <a:off x="828675" y="3306164"/>
            <a:ext cx="3388800" cy="5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500">
                <a:solidFill>
                  <a:srgbClr val="F3F0DF"/>
                </a:solidFill>
                <a:latin typeface="DM Sans"/>
                <a:ea typeface="DM Sans"/>
                <a:cs typeface="DM Sans"/>
                <a:sym typeface="DM Sans"/>
              </a:rPr>
              <a:t>RFE:</a:t>
            </a:r>
            <a:r>
              <a:rPr lang="en-US" sz="1500">
                <a:solidFill>
                  <a:srgbClr val="F3F0DF"/>
                </a:solidFill>
                <a:latin typeface="DM Sans"/>
                <a:ea typeface="DM Sans"/>
                <a:cs typeface="DM Sans"/>
                <a:sym typeface="DM Sans"/>
              </a:rPr>
              <a:t> Rate-of-Change-of-Frequency Error. Limit: 0.4 Hz/s</a:t>
            </a:r>
            <a:endParaRPr sz="1500"/>
          </a:p>
        </p:txBody>
      </p:sp>
      <p:sp>
        <p:nvSpPr>
          <p:cNvPr id="183" name="Google Shape;183;p19"/>
          <p:cNvSpPr txBox="1"/>
          <p:nvPr/>
        </p:nvSpPr>
        <p:spPr>
          <a:xfrm>
            <a:off x="495300" y="611175"/>
            <a:ext cx="76683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rPr b="1" lang="en-US" sz="3300">
                <a:solidFill>
                  <a:srgbClr val="11CAA0"/>
                </a:solidFill>
                <a:latin typeface="Merriweather"/>
                <a:ea typeface="Merriweather"/>
                <a:cs typeface="Merriweather"/>
                <a:sym typeface="Merriweather"/>
              </a:rPr>
              <a:t>Simulation Results: IEEE Compliance</a:t>
            </a:r>
            <a:endParaRPr/>
          </a:p>
        </p:txBody>
      </p:sp>
      <p:pic>
        <p:nvPicPr>
          <p:cNvPr descr="image.png" id="184" name="Google Shape;184;p19"/>
          <p:cNvPicPr preferRelativeResize="0"/>
          <p:nvPr/>
        </p:nvPicPr>
        <p:blipFill rotWithShape="1">
          <a:blip r:embed="rId4">
            <a:alphaModFix/>
          </a:blip>
          <a:srcRect b="0" l="0" r="0" t="0"/>
          <a:stretch/>
        </p:blipFill>
        <p:spPr>
          <a:xfrm>
            <a:off x="495300" y="2169116"/>
            <a:ext cx="104775" cy="180975"/>
          </a:xfrm>
          <a:prstGeom prst="rect">
            <a:avLst/>
          </a:prstGeom>
          <a:noFill/>
          <a:ln>
            <a:noFill/>
          </a:ln>
        </p:spPr>
      </p:pic>
      <p:pic>
        <p:nvPicPr>
          <p:cNvPr descr="image.png" id="185" name="Google Shape;185;p19"/>
          <p:cNvPicPr preferRelativeResize="0"/>
          <p:nvPr/>
        </p:nvPicPr>
        <p:blipFill rotWithShape="1">
          <a:blip r:embed="rId4">
            <a:alphaModFix/>
          </a:blip>
          <a:srcRect b="0" l="0" r="0" t="0"/>
          <a:stretch/>
        </p:blipFill>
        <p:spPr>
          <a:xfrm>
            <a:off x="495300" y="2951952"/>
            <a:ext cx="104775" cy="180975"/>
          </a:xfrm>
          <a:prstGeom prst="rect">
            <a:avLst/>
          </a:prstGeom>
          <a:noFill/>
          <a:ln>
            <a:noFill/>
          </a:ln>
        </p:spPr>
      </p:pic>
      <p:pic>
        <p:nvPicPr>
          <p:cNvPr descr="image.png" id="186" name="Google Shape;186;p19"/>
          <p:cNvPicPr preferRelativeResize="0"/>
          <p:nvPr/>
        </p:nvPicPr>
        <p:blipFill rotWithShape="1">
          <a:blip r:embed="rId4">
            <a:alphaModFix/>
          </a:blip>
          <a:srcRect b="0" l="0" r="0" t="0"/>
          <a:stretch/>
        </p:blipFill>
        <p:spPr>
          <a:xfrm>
            <a:off x="495300" y="3353788"/>
            <a:ext cx="104775" cy="180975"/>
          </a:xfrm>
          <a:prstGeom prst="rect">
            <a:avLst/>
          </a:prstGeom>
          <a:noFill/>
          <a:ln>
            <a:noFill/>
          </a:ln>
        </p:spPr>
      </p:pic>
      <p:pic>
        <p:nvPicPr>
          <p:cNvPr descr="image.png" id="187" name="Google Shape;187;p19"/>
          <p:cNvPicPr preferRelativeResize="0"/>
          <p:nvPr/>
        </p:nvPicPr>
        <p:blipFill rotWithShape="1">
          <a:blip r:embed="rId5">
            <a:alphaModFix/>
          </a:blip>
          <a:srcRect b="0" l="0" r="0" t="0"/>
          <a:stretch/>
        </p:blipFill>
        <p:spPr>
          <a:xfrm>
            <a:off x="495300" y="4377700"/>
            <a:ext cx="3518175" cy="1729800"/>
          </a:xfrm>
          <a:prstGeom prst="rect">
            <a:avLst/>
          </a:prstGeom>
          <a:noFill/>
          <a:ln>
            <a:noFill/>
          </a:ln>
        </p:spPr>
      </p:pic>
      <p:sp>
        <p:nvSpPr>
          <p:cNvPr id="188" name="Google Shape;188;p19"/>
          <p:cNvSpPr txBox="1"/>
          <p:nvPr/>
        </p:nvSpPr>
        <p:spPr>
          <a:xfrm>
            <a:off x="661988" y="4642300"/>
            <a:ext cx="3184800" cy="120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500">
                <a:solidFill>
                  <a:srgbClr val="F3F0DF"/>
                </a:solidFill>
                <a:latin typeface="DM Sans"/>
                <a:ea typeface="DM Sans"/>
                <a:cs typeface="DM Sans"/>
                <a:sym typeface="DM Sans"/>
              </a:rPr>
              <a:t>Outcome: </a:t>
            </a:r>
            <a:r>
              <a:rPr lang="en-US" sz="1500">
                <a:solidFill>
                  <a:srgbClr val="F3F0DF"/>
                </a:solidFill>
                <a:latin typeface="DM Sans"/>
                <a:ea typeface="DM Sans"/>
                <a:cs typeface="DM Sans"/>
                <a:sym typeface="DM Sans"/>
              </a:rPr>
              <a:t>During 48-52 Hz sweeps, the LSM failed (TVE ~32%). The e-IpDFT remained highly compliant (TVE 0.016%).</a:t>
            </a:r>
            <a:endParaRPr sz="1500"/>
          </a:p>
        </p:txBody>
      </p:sp>
      <p:pic>
        <p:nvPicPr>
          <p:cNvPr id="189" name="Google Shape;189;p19"/>
          <p:cNvPicPr preferRelativeResize="0"/>
          <p:nvPr/>
        </p:nvPicPr>
        <p:blipFill>
          <a:blip r:embed="rId6">
            <a:alphaModFix/>
          </a:blip>
          <a:stretch>
            <a:fillRect/>
          </a:stretch>
        </p:blipFill>
        <p:spPr>
          <a:xfrm>
            <a:off x="4343400" y="1595695"/>
            <a:ext cx="7443976" cy="3743781"/>
          </a:xfrm>
          <a:prstGeom prst="rect">
            <a:avLst/>
          </a:prstGeom>
          <a:noFill/>
          <a:ln>
            <a:noFill/>
          </a:ln>
        </p:spPr>
      </p:pic>
      <p:pic>
        <p:nvPicPr>
          <p:cNvPr descr="image.png" id="190" name="Google Shape;190;p19"/>
          <p:cNvPicPr preferRelativeResize="0"/>
          <p:nvPr/>
        </p:nvPicPr>
        <p:blipFill rotWithShape="1">
          <a:blip r:embed="rId7">
            <a:alphaModFix/>
          </a:blip>
          <a:srcRect b="0" l="0" r="0" t="0"/>
          <a:stretch/>
        </p:blipFill>
        <p:spPr>
          <a:xfrm>
            <a:off x="4343400" y="5581157"/>
            <a:ext cx="117196" cy="135122"/>
          </a:xfrm>
          <a:prstGeom prst="rect">
            <a:avLst/>
          </a:prstGeom>
          <a:noFill/>
          <a:ln>
            <a:noFill/>
          </a:ln>
        </p:spPr>
      </p:pic>
      <p:sp>
        <p:nvSpPr>
          <p:cNvPr id="191" name="Google Shape;191;p19"/>
          <p:cNvSpPr txBox="1"/>
          <p:nvPr/>
        </p:nvSpPr>
        <p:spPr>
          <a:xfrm>
            <a:off x="4669951" y="5581150"/>
            <a:ext cx="7117500" cy="480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300">
                <a:solidFill>
                  <a:srgbClr val="F3F0DF"/>
                </a:solidFill>
                <a:latin typeface="DM Sans"/>
                <a:ea typeface="DM Sans"/>
                <a:cs typeface="DM Sans"/>
                <a:sym typeface="DM Sans"/>
              </a:rPr>
              <a:t>Fig. 6. </a:t>
            </a:r>
            <a:r>
              <a:rPr lang="en-US" sz="1300">
                <a:solidFill>
                  <a:srgbClr val="F3F0DF"/>
                </a:solidFill>
                <a:latin typeface="DM Sans"/>
                <a:ea typeface="DM Sans"/>
                <a:cs typeface="DM Sans"/>
                <a:sym typeface="DM Sans"/>
              </a:rPr>
              <a:t>Steady-state compliance sweeps (logarithmic scale). e-IpDFT strictly adheres to IEEE limits across all tests, while LSM fails severely during frequency deviations. </a:t>
            </a:r>
            <a:endParaRPr sz="1300">
              <a:solidFill>
                <a:srgbClr val="F3F0DF"/>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95" name="Shape 195"/>
        <p:cNvGrpSpPr/>
        <p:nvPr/>
      </p:nvGrpSpPr>
      <p:grpSpPr>
        <a:xfrm>
          <a:off x="0" y="0"/>
          <a:ext cx="0" cy="0"/>
          <a:chOff x="0" y="0"/>
          <a:chExt cx="0" cy="0"/>
        </a:xfrm>
      </p:grpSpPr>
      <p:pic>
        <p:nvPicPr>
          <p:cNvPr descr="image.png" id="196" name="Google Shape;196;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20"/>
          <p:cNvSpPr txBox="1"/>
          <p:nvPr/>
        </p:nvSpPr>
        <p:spPr>
          <a:xfrm>
            <a:off x="6000750" y="1104602"/>
            <a:ext cx="55008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400">
                <a:solidFill>
                  <a:srgbClr val="F3F0DF"/>
                </a:solidFill>
                <a:latin typeface="DM Sans Medium"/>
                <a:ea typeface="DM Sans Medium"/>
                <a:cs typeface="DM Sans Medium"/>
                <a:sym typeface="DM Sans Medium"/>
              </a:rPr>
              <a:t>Disturbance Test</a:t>
            </a:r>
            <a:endParaRPr/>
          </a:p>
        </p:txBody>
      </p:sp>
      <p:sp>
        <p:nvSpPr>
          <p:cNvPr id="198" name="Google Shape;198;p20"/>
          <p:cNvSpPr txBox="1"/>
          <p:nvPr/>
        </p:nvSpPr>
        <p:spPr>
          <a:xfrm>
            <a:off x="6334125" y="1657052"/>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Test:</a:t>
            </a:r>
            <a:r>
              <a:rPr b="0" i="0" lang="en-US" sz="1800" u="none" cap="none" strike="noStrike">
                <a:solidFill>
                  <a:srgbClr val="F3F0DF"/>
                </a:solidFill>
                <a:latin typeface="DM Sans"/>
                <a:ea typeface="DM Sans"/>
                <a:cs typeface="DM Sans"/>
                <a:sym typeface="DM Sans"/>
              </a:rPr>
              <a:t> +10° phase jump and +0.5 Hz frequency step.</a:t>
            </a:r>
            <a:endParaRPr/>
          </a:p>
        </p:txBody>
      </p:sp>
      <p:sp>
        <p:nvSpPr>
          <p:cNvPr id="199" name="Google Shape;199;p20"/>
          <p:cNvSpPr txBox="1"/>
          <p:nvPr/>
        </p:nvSpPr>
        <p:spPr>
          <a:xfrm>
            <a:off x="6334125" y="3811488"/>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LSM:</a:t>
            </a:r>
            <a:r>
              <a:rPr b="0" i="0" lang="en-US" sz="1800" u="none" cap="none" strike="noStrike">
                <a:solidFill>
                  <a:srgbClr val="F3F0DF"/>
                </a:solidFill>
                <a:latin typeface="DM Sans"/>
                <a:ea typeface="DM Sans"/>
                <a:cs typeface="DM Sans"/>
                <a:sym typeface="DM Sans"/>
              </a:rPr>
              <a:t> Violent oscillations during recovery due to fixed-template mismatch.</a:t>
            </a:r>
            <a:endParaRPr/>
          </a:p>
        </p:txBody>
      </p:sp>
      <p:sp>
        <p:nvSpPr>
          <p:cNvPr id="200" name="Google Shape;200;p20"/>
          <p:cNvSpPr txBox="1"/>
          <p:nvPr/>
        </p:nvSpPr>
        <p:spPr>
          <a:xfrm>
            <a:off x="6334125" y="4670524"/>
            <a:ext cx="49053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e-IpDFT:</a:t>
            </a:r>
            <a:r>
              <a:rPr b="0" i="0" lang="en-US" sz="1800" u="none" cap="none" strike="noStrike">
                <a:solidFill>
                  <a:srgbClr val="F3F0DF"/>
                </a:solidFill>
                <a:latin typeface="DM Sans"/>
                <a:ea typeface="DM Sans"/>
                <a:cs typeface="DM Sans"/>
                <a:sym typeface="DM Sans"/>
              </a:rPr>
              <a:t> Smooth transition and rapid settling to new grid state.</a:t>
            </a:r>
            <a:endParaRPr/>
          </a:p>
        </p:txBody>
      </p:sp>
      <p:sp>
        <p:nvSpPr>
          <p:cNvPr id="201" name="Google Shape;201;p20"/>
          <p:cNvSpPr txBox="1"/>
          <p:nvPr/>
        </p:nvSpPr>
        <p:spPr>
          <a:xfrm>
            <a:off x="571500" y="309711"/>
            <a:ext cx="6330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Transient Recovery Behavior</a:t>
            </a:r>
            <a:endParaRPr/>
          </a:p>
        </p:txBody>
      </p:sp>
      <p:pic>
        <p:nvPicPr>
          <p:cNvPr descr="image.png" id="202" name="Google Shape;202;p20"/>
          <p:cNvPicPr preferRelativeResize="0"/>
          <p:nvPr/>
        </p:nvPicPr>
        <p:blipFill rotWithShape="1">
          <a:blip r:embed="rId4">
            <a:alphaModFix/>
          </a:blip>
          <a:srcRect b="0" l="0" r="0" t="0"/>
          <a:stretch/>
        </p:blipFill>
        <p:spPr>
          <a:xfrm>
            <a:off x="6000750" y="1704677"/>
            <a:ext cx="104775" cy="180975"/>
          </a:xfrm>
          <a:prstGeom prst="rect">
            <a:avLst/>
          </a:prstGeom>
          <a:noFill/>
          <a:ln>
            <a:noFill/>
          </a:ln>
        </p:spPr>
      </p:pic>
      <p:pic>
        <p:nvPicPr>
          <p:cNvPr descr="image.png" id="203" name="Google Shape;203;p20"/>
          <p:cNvPicPr preferRelativeResize="0"/>
          <p:nvPr/>
        </p:nvPicPr>
        <p:blipFill rotWithShape="1">
          <a:blip r:embed="rId4">
            <a:alphaModFix/>
          </a:blip>
          <a:srcRect b="0" l="0" r="0" t="0"/>
          <a:stretch/>
        </p:blipFill>
        <p:spPr>
          <a:xfrm>
            <a:off x="6000750" y="3859113"/>
            <a:ext cx="104775" cy="180975"/>
          </a:xfrm>
          <a:prstGeom prst="rect">
            <a:avLst/>
          </a:prstGeom>
          <a:noFill/>
          <a:ln>
            <a:noFill/>
          </a:ln>
        </p:spPr>
      </p:pic>
      <p:pic>
        <p:nvPicPr>
          <p:cNvPr descr="image.png" id="204" name="Google Shape;204;p20"/>
          <p:cNvPicPr preferRelativeResize="0"/>
          <p:nvPr/>
        </p:nvPicPr>
        <p:blipFill rotWithShape="1">
          <a:blip r:embed="rId4">
            <a:alphaModFix/>
          </a:blip>
          <a:srcRect b="0" l="0" r="0" t="0"/>
          <a:stretch/>
        </p:blipFill>
        <p:spPr>
          <a:xfrm>
            <a:off x="6000750" y="4718149"/>
            <a:ext cx="104775" cy="180975"/>
          </a:xfrm>
          <a:prstGeom prst="rect">
            <a:avLst/>
          </a:prstGeom>
          <a:noFill/>
          <a:ln>
            <a:noFill/>
          </a:ln>
        </p:spPr>
      </p:pic>
      <p:sp>
        <p:nvSpPr>
          <p:cNvPr id="205" name="Google Shape;205;p20"/>
          <p:cNvSpPr txBox="1"/>
          <p:nvPr/>
        </p:nvSpPr>
        <p:spPr>
          <a:xfrm>
            <a:off x="6334125" y="2495252"/>
            <a:ext cx="49053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Note:</a:t>
            </a:r>
            <a:r>
              <a:rPr lang="en-US" sz="1800">
                <a:solidFill>
                  <a:srgbClr val="F3F0DF"/>
                </a:solidFill>
                <a:latin typeface="DM Sans"/>
                <a:ea typeface="DM Sans"/>
                <a:cs typeface="DM Sans"/>
                <a:sym typeface="DM Sans"/>
              </a:rPr>
              <a:t> </a:t>
            </a:r>
            <a:r>
              <a:rPr lang="en-US" sz="1800">
                <a:solidFill>
                  <a:srgbClr val="F3F0DF"/>
                </a:solidFill>
                <a:latin typeface="DM Sans"/>
                <a:ea typeface="DM Sans"/>
                <a:cs typeface="DM Sans"/>
                <a:sym typeface="DM Sans"/>
              </a:rPr>
              <a:t>Instantaneous</a:t>
            </a:r>
            <a:r>
              <a:rPr lang="en-US" sz="1800">
                <a:solidFill>
                  <a:srgbClr val="F3F0DF"/>
                </a:solidFill>
                <a:latin typeface="DM Sans"/>
                <a:ea typeface="DM Sans"/>
                <a:cs typeface="DM Sans"/>
                <a:sym typeface="DM Sans"/>
              </a:rPr>
              <a:t> +0.5 Hz step is physically impossible due to generator inertia, but it exposes the underlying algorithm math.</a:t>
            </a:r>
            <a:endParaRPr/>
          </a:p>
        </p:txBody>
      </p:sp>
      <p:pic>
        <p:nvPicPr>
          <p:cNvPr descr="image.png" id="206" name="Google Shape;206;p20"/>
          <p:cNvPicPr preferRelativeResize="0"/>
          <p:nvPr/>
        </p:nvPicPr>
        <p:blipFill rotWithShape="1">
          <a:blip r:embed="rId4">
            <a:alphaModFix/>
          </a:blip>
          <a:srcRect b="0" l="0" r="0" t="0"/>
          <a:stretch/>
        </p:blipFill>
        <p:spPr>
          <a:xfrm>
            <a:off x="6000750" y="2542877"/>
            <a:ext cx="104775" cy="180975"/>
          </a:xfrm>
          <a:prstGeom prst="rect">
            <a:avLst/>
          </a:prstGeom>
          <a:noFill/>
          <a:ln>
            <a:noFill/>
          </a:ln>
        </p:spPr>
      </p:pic>
      <p:pic>
        <p:nvPicPr>
          <p:cNvPr id="207" name="Google Shape;207;p20"/>
          <p:cNvPicPr preferRelativeResize="0"/>
          <p:nvPr/>
        </p:nvPicPr>
        <p:blipFill>
          <a:blip r:embed="rId5">
            <a:alphaModFix/>
          </a:blip>
          <a:stretch>
            <a:fillRect/>
          </a:stretch>
        </p:blipFill>
        <p:spPr>
          <a:xfrm>
            <a:off x="662225" y="1087475"/>
            <a:ext cx="4107730" cy="4606112"/>
          </a:xfrm>
          <a:prstGeom prst="rect">
            <a:avLst/>
          </a:prstGeom>
          <a:noFill/>
          <a:ln>
            <a:noFill/>
          </a:ln>
        </p:spPr>
      </p:pic>
      <p:pic>
        <p:nvPicPr>
          <p:cNvPr descr="image.png" id="208" name="Google Shape;208;p20"/>
          <p:cNvPicPr preferRelativeResize="0"/>
          <p:nvPr/>
        </p:nvPicPr>
        <p:blipFill rotWithShape="1">
          <a:blip r:embed="rId6">
            <a:alphaModFix/>
          </a:blip>
          <a:srcRect b="0" l="0" r="0" t="0"/>
          <a:stretch/>
        </p:blipFill>
        <p:spPr>
          <a:xfrm>
            <a:off x="357425" y="5813557"/>
            <a:ext cx="117196" cy="135122"/>
          </a:xfrm>
          <a:prstGeom prst="rect">
            <a:avLst/>
          </a:prstGeom>
          <a:noFill/>
          <a:ln>
            <a:noFill/>
          </a:ln>
        </p:spPr>
      </p:pic>
      <p:sp>
        <p:nvSpPr>
          <p:cNvPr id="209" name="Google Shape;209;p20"/>
          <p:cNvSpPr txBox="1"/>
          <p:nvPr/>
        </p:nvSpPr>
        <p:spPr>
          <a:xfrm>
            <a:off x="683975" y="5813550"/>
            <a:ext cx="4711200" cy="76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300">
                <a:solidFill>
                  <a:srgbClr val="F3F0DF"/>
                </a:solidFill>
                <a:latin typeface="DM Sans"/>
                <a:ea typeface="DM Sans"/>
                <a:cs typeface="DM Sans"/>
                <a:sym typeface="DM Sans"/>
              </a:rPr>
              <a:t>Fig. 7. </a:t>
            </a:r>
            <a:r>
              <a:rPr lang="en-US" sz="1300">
                <a:solidFill>
                  <a:srgbClr val="F3F0DF"/>
                </a:solidFill>
                <a:latin typeface="DM Sans"/>
                <a:ea typeface="DM Sans"/>
                <a:cs typeface="DM Sans"/>
                <a:sym typeface="DM Sans"/>
              </a:rPr>
              <a:t>Simulated response to instantaneous grid disturbances. The e-IpDFT handles mathematical shocks smoothly, exposing the rigid limitations of the LSM. </a:t>
            </a:r>
            <a:endParaRPr sz="1300">
              <a:solidFill>
                <a:srgbClr val="F3F0DF"/>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213" name="Shape 213"/>
        <p:cNvGrpSpPr/>
        <p:nvPr/>
      </p:nvGrpSpPr>
      <p:grpSpPr>
        <a:xfrm>
          <a:off x="0" y="0"/>
          <a:ext cx="0" cy="0"/>
          <a:chOff x="0" y="0"/>
          <a:chExt cx="0" cy="0"/>
        </a:xfrm>
      </p:grpSpPr>
      <p:pic>
        <p:nvPicPr>
          <p:cNvPr descr="image.png" id="214" name="Google Shape;21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5" name="Google Shape;215;p21"/>
          <p:cNvSpPr txBox="1"/>
          <p:nvPr/>
        </p:nvSpPr>
        <p:spPr>
          <a:xfrm>
            <a:off x="571500" y="385911"/>
            <a:ext cx="6510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Live Tracking of the</a:t>
            </a:r>
            <a:r>
              <a:rPr b="1" lang="en-US" sz="3300">
                <a:solidFill>
                  <a:srgbClr val="11CAA0"/>
                </a:solidFill>
                <a:latin typeface="Merriweather"/>
                <a:ea typeface="Merriweather"/>
                <a:cs typeface="Merriweather"/>
                <a:sym typeface="Merriweather"/>
              </a:rPr>
              <a:t> </a:t>
            </a:r>
            <a:r>
              <a:rPr b="1" i="0" lang="en-US" sz="3300" u="none" cap="none" strike="noStrike">
                <a:solidFill>
                  <a:srgbClr val="11CAA0"/>
                </a:solidFill>
                <a:latin typeface="Merriweather"/>
                <a:ea typeface="Merriweather"/>
                <a:cs typeface="Merriweather"/>
                <a:sym typeface="Merriweather"/>
              </a:rPr>
              <a:t>Grid</a:t>
            </a:r>
            <a:endParaRPr/>
          </a:p>
        </p:txBody>
      </p:sp>
      <p:pic>
        <p:nvPicPr>
          <p:cNvPr id="216" name="Google Shape;216;p21"/>
          <p:cNvPicPr preferRelativeResize="0"/>
          <p:nvPr/>
        </p:nvPicPr>
        <p:blipFill>
          <a:blip r:embed="rId4">
            <a:alphaModFix/>
          </a:blip>
          <a:stretch>
            <a:fillRect/>
          </a:stretch>
        </p:blipFill>
        <p:spPr>
          <a:xfrm>
            <a:off x="571500" y="1141500"/>
            <a:ext cx="8543176" cy="5266825"/>
          </a:xfrm>
          <a:prstGeom prst="rect">
            <a:avLst/>
          </a:prstGeom>
          <a:noFill/>
          <a:ln>
            <a:noFill/>
          </a:ln>
        </p:spPr>
      </p:pic>
      <p:sp>
        <p:nvSpPr>
          <p:cNvPr id="217" name="Google Shape;217;p21"/>
          <p:cNvSpPr txBox="1"/>
          <p:nvPr/>
        </p:nvSpPr>
        <p:spPr>
          <a:xfrm>
            <a:off x="9765425" y="1364025"/>
            <a:ext cx="2090400" cy="18810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SzPts val="1100"/>
              <a:buNone/>
            </a:pPr>
            <a:r>
              <a:rPr lang="en-US" sz="1300">
                <a:solidFill>
                  <a:srgbClr val="F3F0DF"/>
                </a:solidFill>
                <a:latin typeface="DM Sans"/>
                <a:ea typeface="DM Sans"/>
                <a:cs typeface="DM Sans"/>
                <a:sym typeface="DM Sans"/>
              </a:rPr>
              <a:t>Fig. 8. </a:t>
            </a:r>
            <a:r>
              <a:rPr lang="en-US" sz="1300">
                <a:solidFill>
                  <a:srgbClr val="F8FAFC"/>
                </a:solidFill>
                <a:latin typeface="DM Sans"/>
                <a:ea typeface="DM Sans"/>
                <a:cs typeface="DM Sans"/>
                <a:sym typeface="DM Sans"/>
              </a:rPr>
              <a:t>Live frequency tracking comparison. (a) Official Svenska Kraftnät reference. (b) Local e-IpDFT estimation captured in the Grafana visualizer. </a:t>
            </a:r>
            <a:endParaRPr sz="1650">
              <a:solidFill>
                <a:srgbClr val="F8FAFC"/>
              </a:solidFill>
              <a:latin typeface="DM Sans"/>
              <a:ea typeface="DM Sans"/>
              <a:cs typeface="DM Sans"/>
              <a:sym typeface="DM Sans"/>
            </a:endParaRPr>
          </a:p>
        </p:txBody>
      </p:sp>
      <p:pic>
        <p:nvPicPr>
          <p:cNvPr descr="image.png" id="218" name="Google Shape;218;p21"/>
          <p:cNvPicPr preferRelativeResize="0"/>
          <p:nvPr/>
        </p:nvPicPr>
        <p:blipFill rotWithShape="1">
          <a:blip r:embed="rId5">
            <a:alphaModFix/>
          </a:blip>
          <a:srcRect b="0" l="0" r="0" t="0"/>
          <a:stretch/>
        </p:blipFill>
        <p:spPr>
          <a:xfrm>
            <a:off x="3928700" y="4495945"/>
            <a:ext cx="27997" cy="180975"/>
          </a:xfrm>
          <a:prstGeom prst="rect">
            <a:avLst/>
          </a:prstGeom>
          <a:noFill/>
          <a:ln>
            <a:noFill/>
          </a:ln>
        </p:spPr>
      </p:pic>
      <p:pic>
        <p:nvPicPr>
          <p:cNvPr descr="image.png" id="219" name="Google Shape;219;p21"/>
          <p:cNvPicPr preferRelativeResize="0"/>
          <p:nvPr/>
        </p:nvPicPr>
        <p:blipFill rotWithShape="1">
          <a:blip r:embed="rId6">
            <a:alphaModFix/>
          </a:blip>
          <a:srcRect b="0" l="0" r="0" t="0"/>
          <a:stretch/>
        </p:blipFill>
        <p:spPr>
          <a:xfrm>
            <a:off x="9457650" y="1364032"/>
            <a:ext cx="117196" cy="1351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223" name="Shape 223"/>
        <p:cNvGrpSpPr/>
        <p:nvPr/>
      </p:nvGrpSpPr>
      <p:grpSpPr>
        <a:xfrm>
          <a:off x="0" y="0"/>
          <a:ext cx="0" cy="0"/>
          <a:chOff x="0" y="0"/>
          <a:chExt cx="0" cy="0"/>
        </a:xfrm>
      </p:grpSpPr>
      <p:pic>
        <p:nvPicPr>
          <p:cNvPr descr="image.png" id="224" name="Google Shape;224;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5" name="Google Shape;225;p22"/>
          <p:cNvPicPr preferRelativeResize="0"/>
          <p:nvPr/>
        </p:nvPicPr>
        <p:blipFill rotWithShape="1">
          <a:blip r:embed="rId4">
            <a:alphaModFix/>
          </a:blip>
          <a:srcRect b="0" l="0" r="0" t="0"/>
          <a:stretch/>
        </p:blipFill>
        <p:spPr>
          <a:xfrm>
            <a:off x="8874875" y="1157300"/>
            <a:ext cx="2972399" cy="5207825"/>
          </a:xfrm>
          <a:prstGeom prst="rect">
            <a:avLst/>
          </a:prstGeom>
          <a:noFill/>
          <a:ln>
            <a:noFill/>
          </a:ln>
        </p:spPr>
      </p:pic>
      <p:sp>
        <p:nvSpPr>
          <p:cNvPr id="226" name="Google Shape;226;p22"/>
          <p:cNvSpPr txBox="1"/>
          <p:nvPr/>
        </p:nvSpPr>
        <p:spPr>
          <a:xfrm>
            <a:off x="9134475" y="3934425"/>
            <a:ext cx="25320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000" u="none" cap="none" strike="noStrike">
                <a:solidFill>
                  <a:srgbClr val="FF5F5F"/>
                </a:solidFill>
                <a:latin typeface="DM Sans Medium"/>
                <a:ea typeface="DM Sans Medium"/>
                <a:cs typeface="DM Sans Medium"/>
                <a:sym typeface="DM Sans Medium"/>
              </a:rPr>
              <a:t>The 2-Second Delay</a:t>
            </a:r>
            <a:endParaRPr sz="2000"/>
          </a:p>
        </p:txBody>
      </p:sp>
      <p:sp>
        <p:nvSpPr>
          <p:cNvPr id="227" name="Google Shape;227;p22"/>
          <p:cNvSpPr txBox="1"/>
          <p:nvPr/>
        </p:nvSpPr>
        <p:spPr>
          <a:xfrm>
            <a:off x="9134475" y="4334475"/>
            <a:ext cx="25320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3F0DF"/>
                </a:solidFill>
                <a:latin typeface="DM Sans"/>
                <a:ea typeface="DM Sans"/>
                <a:cs typeface="DM Sans"/>
                <a:sym typeface="DM Sans"/>
              </a:rPr>
              <a:t>Found in Grafana outputs. </a:t>
            </a:r>
            <a:r>
              <a:rPr lang="en-US" sz="1500">
                <a:solidFill>
                  <a:srgbClr val="F3F0DF"/>
                </a:solidFill>
                <a:latin typeface="DM Sans"/>
                <a:ea typeface="DM Sans"/>
                <a:cs typeface="DM Sans"/>
                <a:sym typeface="DM Sans"/>
              </a:rPr>
              <a:t>Believed to</a:t>
            </a:r>
            <a:r>
              <a:rPr b="0" i="0" lang="en-US" sz="1500" u="none" cap="none" strike="noStrike">
                <a:solidFill>
                  <a:srgbClr val="F3F0DF"/>
                </a:solidFill>
                <a:latin typeface="DM Sans"/>
                <a:ea typeface="DM Sans"/>
                <a:cs typeface="DM Sans"/>
                <a:sym typeface="DM Sans"/>
              </a:rPr>
              <a:t> as a </a:t>
            </a:r>
            <a:r>
              <a:rPr b="1" i="0" lang="en-US" sz="1500" u="none" cap="none" strike="noStrike">
                <a:solidFill>
                  <a:srgbClr val="F3F0DF"/>
                </a:solidFill>
                <a:latin typeface="DM Sans"/>
                <a:ea typeface="DM Sans"/>
                <a:cs typeface="DM Sans"/>
                <a:sym typeface="DM Sans"/>
              </a:rPr>
              <a:t>s</a:t>
            </a:r>
            <a:r>
              <a:rPr i="0" lang="en-US" sz="1500" u="none" cap="none" strike="noStrike">
                <a:solidFill>
                  <a:srgbClr val="F3F0DF"/>
                </a:solidFill>
                <a:latin typeface="DM Sans"/>
                <a:ea typeface="DM Sans"/>
                <a:cs typeface="DM Sans"/>
                <a:sym typeface="DM Sans"/>
              </a:rPr>
              <a:t>ynchronization delay</a:t>
            </a:r>
            <a:r>
              <a:rPr b="0" i="0" lang="en-US" sz="1500" u="none" cap="none" strike="noStrike">
                <a:solidFill>
                  <a:srgbClr val="F3F0DF"/>
                </a:solidFill>
                <a:latin typeface="DM Sans"/>
                <a:ea typeface="DM Sans"/>
                <a:cs typeface="DM Sans"/>
                <a:sym typeface="DM Sans"/>
              </a:rPr>
              <a:t> in cross-language buffer handoff, not a math failure.</a:t>
            </a:r>
            <a:endParaRPr sz="1500"/>
          </a:p>
        </p:txBody>
      </p:sp>
      <p:sp>
        <p:nvSpPr>
          <p:cNvPr id="228" name="Google Shape;228;p22"/>
          <p:cNvSpPr txBox="1"/>
          <p:nvPr/>
        </p:nvSpPr>
        <p:spPr>
          <a:xfrm>
            <a:off x="9108003" y="1443050"/>
            <a:ext cx="25320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000" u="none" cap="none" strike="noStrike">
                <a:solidFill>
                  <a:srgbClr val="FF5F5F"/>
                </a:solidFill>
                <a:latin typeface="DM Sans Medium"/>
                <a:ea typeface="DM Sans Medium"/>
                <a:cs typeface="DM Sans Medium"/>
                <a:sym typeface="DM Sans Medium"/>
              </a:rPr>
              <a:t>Voltage Imbalance</a:t>
            </a:r>
            <a:endParaRPr sz="2000"/>
          </a:p>
        </p:txBody>
      </p:sp>
      <p:sp>
        <p:nvSpPr>
          <p:cNvPr id="229" name="Google Shape;229;p22"/>
          <p:cNvSpPr txBox="1"/>
          <p:nvPr/>
        </p:nvSpPr>
        <p:spPr>
          <a:xfrm>
            <a:off x="9108000" y="1919300"/>
            <a:ext cx="25320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i="0" lang="en-US" sz="1500" u="none" cap="none" strike="noStrike">
                <a:solidFill>
                  <a:srgbClr val="F3F0DF"/>
                </a:solidFill>
                <a:latin typeface="DM Sans"/>
                <a:ea typeface="DM Sans"/>
                <a:cs typeface="DM Sans"/>
                <a:sym typeface="DM Sans"/>
              </a:rPr>
              <a:t>Consistent 1V variance on Phase A. Traced to analog component tolerances (resistors) on the expansion board.</a:t>
            </a:r>
            <a:endParaRPr sz="1500"/>
          </a:p>
        </p:txBody>
      </p:sp>
      <p:sp>
        <p:nvSpPr>
          <p:cNvPr id="230" name="Google Shape;230;p22"/>
          <p:cNvSpPr txBox="1"/>
          <p:nvPr/>
        </p:nvSpPr>
        <p:spPr>
          <a:xfrm>
            <a:off x="419100" y="367386"/>
            <a:ext cx="67107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11CAA0"/>
                </a:solidFill>
                <a:latin typeface="Merriweather"/>
                <a:ea typeface="Merriweather"/>
                <a:cs typeface="Merriweather"/>
                <a:sym typeface="Merriweather"/>
              </a:rPr>
              <a:t>Identifying Hardware Realities</a:t>
            </a:r>
            <a:endParaRPr/>
          </a:p>
        </p:txBody>
      </p:sp>
      <p:pic>
        <p:nvPicPr>
          <p:cNvPr id="231" name="Google Shape;231;p22"/>
          <p:cNvPicPr preferRelativeResize="0"/>
          <p:nvPr/>
        </p:nvPicPr>
        <p:blipFill>
          <a:blip r:embed="rId5">
            <a:alphaModFix/>
          </a:blip>
          <a:stretch>
            <a:fillRect/>
          </a:stretch>
        </p:blipFill>
        <p:spPr>
          <a:xfrm>
            <a:off x="410788" y="1157297"/>
            <a:ext cx="8322425" cy="2245053"/>
          </a:xfrm>
          <a:prstGeom prst="rect">
            <a:avLst/>
          </a:prstGeom>
          <a:noFill/>
          <a:ln>
            <a:noFill/>
          </a:ln>
        </p:spPr>
      </p:pic>
      <p:pic>
        <p:nvPicPr>
          <p:cNvPr id="232" name="Google Shape;232;p22"/>
          <p:cNvPicPr preferRelativeResize="0"/>
          <p:nvPr/>
        </p:nvPicPr>
        <p:blipFill>
          <a:blip r:embed="rId6">
            <a:alphaModFix/>
          </a:blip>
          <a:stretch>
            <a:fillRect/>
          </a:stretch>
        </p:blipFill>
        <p:spPr>
          <a:xfrm>
            <a:off x="410800" y="3608172"/>
            <a:ext cx="8322424" cy="2226928"/>
          </a:xfrm>
          <a:prstGeom prst="rect">
            <a:avLst/>
          </a:prstGeom>
          <a:noFill/>
          <a:ln>
            <a:noFill/>
          </a:ln>
        </p:spPr>
      </p:pic>
      <p:sp>
        <p:nvSpPr>
          <p:cNvPr id="233" name="Google Shape;233;p22"/>
          <p:cNvSpPr txBox="1"/>
          <p:nvPr/>
        </p:nvSpPr>
        <p:spPr>
          <a:xfrm>
            <a:off x="732038" y="6042150"/>
            <a:ext cx="7947900" cy="480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300">
                <a:solidFill>
                  <a:srgbClr val="F3F0DF"/>
                </a:solidFill>
                <a:latin typeface="DM Sans"/>
                <a:ea typeface="DM Sans"/>
                <a:cs typeface="DM Sans"/>
                <a:sym typeface="DM Sans"/>
              </a:rPr>
              <a:t>Fig. 9. </a:t>
            </a:r>
            <a:r>
              <a:rPr lang="en-US" sz="1300">
                <a:solidFill>
                  <a:srgbClr val="F3F0DF"/>
                </a:solidFill>
                <a:latin typeface="DM Sans"/>
                <a:ea typeface="DM Sans"/>
                <a:cs typeface="DM Sans"/>
                <a:sym typeface="DM Sans"/>
              </a:rPr>
              <a:t>Real-time device diagnostics. The phase angle comparison reveals a 2-second synchronization delay, while the three-phase tracking demonstrates the operational stability of the C++ wrapper. </a:t>
            </a:r>
            <a:endParaRPr sz="1300">
              <a:solidFill>
                <a:srgbClr val="F3F0DF"/>
              </a:solidFill>
              <a:latin typeface="DM Sans"/>
              <a:ea typeface="DM Sans"/>
              <a:cs typeface="DM Sans"/>
              <a:sym typeface="DM Sans"/>
            </a:endParaRPr>
          </a:p>
        </p:txBody>
      </p:sp>
      <p:pic>
        <p:nvPicPr>
          <p:cNvPr descr="image.png" id="234" name="Google Shape;234;p22"/>
          <p:cNvPicPr preferRelativeResize="0"/>
          <p:nvPr/>
        </p:nvPicPr>
        <p:blipFill rotWithShape="1">
          <a:blip r:embed="rId7">
            <a:alphaModFix/>
          </a:blip>
          <a:srcRect b="0" l="0" r="0" t="0"/>
          <a:stretch/>
        </p:blipFill>
        <p:spPr>
          <a:xfrm>
            <a:off x="419100" y="6040932"/>
            <a:ext cx="117196" cy="1351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238" name="Shape 238"/>
        <p:cNvGrpSpPr/>
        <p:nvPr/>
      </p:nvGrpSpPr>
      <p:grpSpPr>
        <a:xfrm>
          <a:off x="0" y="0"/>
          <a:ext cx="0" cy="0"/>
          <a:chOff x="0" y="0"/>
          <a:chExt cx="0" cy="0"/>
        </a:xfrm>
      </p:grpSpPr>
      <p:pic>
        <p:nvPicPr>
          <p:cNvPr descr="image.png" id="239" name="Google Shape;239;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0" name="Google Shape;240;p23"/>
          <p:cNvSpPr txBox="1"/>
          <p:nvPr/>
        </p:nvSpPr>
        <p:spPr>
          <a:xfrm>
            <a:off x="2628175" y="4676450"/>
            <a:ext cx="68010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F3F0DF"/>
                </a:solidFill>
                <a:latin typeface="DM Sans"/>
                <a:ea typeface="DM Sans"/>
                <a:cs typeface="DM Sans"/>
                <a:sym typeface="DM Sans"/>
              </a:rPr>
              <a:t>Next Step:</a:t>
            </a:r>
            <a:endParaRPr/>
          </a:p>
        </p:txBody>
      </p:sp>
      <p:sp>
        <p:nvSpPr>
          <p:cNvPr id="241" name="Google Shape;241;p23"/>
          <p:cNvSpPr txBox="1"/>
          <p:nvPr/>
        </p:nvSpPr>
        <p:spPr>
          <a:xfrm>
            <a:off x="2628175" y="5205975"/>
            <a:ext cx="6801000" cy="1015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Font typeface="Arial"/>
              <a:buNone/>
            </a:pPr>
            <a:r>
              <a:rPr b="1" lang="en-US" sz="1650">
                <a:solidFill>
                  <a:srgbClr val="F8FAFC"/>
                </a:solidFill>
                <a:latin typeface="DM Sans"/>
                <a:ea typeface="DM Sans"/>
                <a:cs typeface="DM Sans"/>
                <a:sym typeface="DM Sans"/>
              </a:rPr>
              <a:t>Hardware Upgrades:</a:t>
            </a:r>
            <a:r>
              <a:rPr lang="en-US" sz="1650">
                <a:solidFill>
                  <a:srgbClr val="F8FAFC"/>
                </a:solidFill>
                <a:latin typeface="DM Sans"/>
                <a:ea typeface="DM Sans"/>
                <a:cs typeface="DM Sans"/>
                <a:sym typeface="DM Sans"/>
              </a:rPr>
              <a:t> Upgrade the analog-to-digital expansion board to resolve the 1V resistor tolerance issue, and integrate a stronger GPS module for indoor synchronization. </a:t>
            </a:r>
            <a:endParaRPr/>
          </a:p>
        </p:txBody>
      </p:sp>
      <p:sp>
        <p:nvSpPr>
          <p:cNvPr id="242" name="Google Shape;242;p23"/>
          <p:cNvSpPr txBox="1"/>
          <p:nvPr/>
        </p:nvSpPr>
        <p:spPr>
          <a:xfrm>
            <a:off x="571500" y="2457450"/>
            <a:ext cx="110490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243" name="Google Shape;243;p23"/>
          <p:cNvSpPr txBox="1"/>
          <p:nvPr/>
        </p:nvSpPr>
        <p:spPr>
          <a:xfrm>
            <a:off x="981075" y="1481550"/>
            <a:ext cx="57393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The LSM Limitation: The rigid 50 Hz template fails strict IEEE P-Class requirements, causing large oscillatory errors during grid frequency deviations.</a:t>
            </a:r>
            <a:r>
              <a:rPr lang="en-US" sz="1800">
                <a:solidFill>
                  <a:srgbClr val="F3F0DF"/>
                </a:solidFill>
                <a:latin typeface="DM Sans"/>
                <a:ea typeface="DM Sans"/>
                <a:cs typeface="DM Sans"/>
                <a:sym typeface="DM Sans"/>
              </a:rPr>
              <a:t>  </a:t>
            </a:r>
            <a:endParaRPr/>
          </a:p>
        </p:txBody>
      </p:sp>
      <p:pic>
        <p:nvPicPr>
          <p:cNvPr descr="image.png" id="244" name="Google Shape;244;p23"/>
          <p:cNvPicPr preferRelativeResize="0"/>
          <p:nvPr/>
        </p:nvPicPr>
        <p:blipFill rotWithShape="1">
          <a:blip r:embed="rId4">
            <a:alphaModFix/>
          </a:blip>
          <a:srcRect b="0" l="0" r="0" t="0"/>
          <a:stretch/>
        </p:blipFill>
        <p:spPr>
          <a:xfrm>
            <a:off x="647700" y="1529184"/>
            <a:ext cx="104775" cy="180975"/>
          </a:xfrm>
          <a:prstGeom prst="rect">
            <a:avLst/>
          </a:prstGeom>
          <a:noFill/>
          <a:ln>
            <a:noFill/>
          </a:ln>
        </p:spPr>
      </p:pic>
      <p:sp>
        <p:nvSpPr>
          <p:cNvPr id="245" name="Google Shape;245;p23"/>
          <p:cNvSpPr txBox="1"/>
          <p:nvPr/>
        </p:nvSpPr>
        <p:spPr>
          <a:xfrm>
            <a:off x="981075" y="2693750"/>
            <a:ext cx="57393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F3F0DF"/>
                </a:solidFill>
                <a:latin typeface="DM Sans"/>
                <a:ea typeface="DM Sans"/>
                <a:cs typeface="DM Sans"/>
                <a:sym typeface="DM Sans"/>
              </a:rPr>
              <a:t>The e-IpDFT Success: Adapts to actual grid frequencies using a Hanning window and fractional bin offsets, maintaining extreme accuracy under off-nominal conditions.</a:t>
            </a:r>
            <a:endParaRPr/>
          </a:p>
        </p:txBody>
      </p:sp>
      <p:pic>
        <p:nvPicPr>
          <p:cNvPr descr="image.png" id="246" name="Google Shape;246;p23"/>
          <p:cNvPicPr preferRelativeResize="0"/>
          <p:nvPr/>
        </p:nvPicPr>
        <p:blipFill rotWithShape="1">
          <a:blip r:embed="rId4">
            <a:alphaModFix/>
          </a:blip>
          <a:srcRect b="0" l="0" r="0" t="0"/>
          <a:stretch/>
        </p:blipFill>
        <p:spPr>
          <a:xfrm>
            <a:off x="647700" y="2741384"/>
            <a:ext cx="104775" cy="180975"/>
          </a:xfrm>
          <a:prstGeom prst="rect">
            <a:avLst/>
          </a:prstGeom>
          <a:noFill/>
          <a:ln>
            <a:noFill/>
          </a:ln>
        </p:spPr>
      </p:pic>
      <p:sp>
        <p:nvSpPr>
          <p:cNvPr id="247" name="Google Shape;247;p23"/>
          <p:cNvSpPr txBox="1"/>
          <p:nvPr/>
        </p:nvSpPr>
        <p:spPr>
          <a:xfrm>
            <a:off x="7172325" y="1456950"/>
            <a:ext cx="4679100" cy="1828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F3F0DF"/>
                </a:solidFill>
                <a:latin typeface="DM Sans"/>
                <a:ea typeface="DM Sans"/>
                <a:cs typeface="DM Sans"/>
                <a:sym typeface="DM Sans"/>
              </a:rPr>
              <a:t>Live Validation: B</a:t>
            </a:r>
            <a:r>
              <a:rPr lang="en-US" sz="1800">
                <a:solidFill>
                  <a:srgbClr val="F3F0DF"/>
                </a:solidFill>
                <a:latin typeface="DM Sans"/>
                <a:ea typeface="DM Sans"/>
                <a:cs typeface="DM Sans"/>
                <a:sym typeface="DM Sans"/>
              </a:rPr>
              <a:t>enchmarking confirmed the algorithm's operational stability, revealing that physical hardware constraints, not the mathematical engine, are now the primary system bottlenecks.</a:t>
            </a:r>
            <a:endParaRPr/>
          </a:p>
        </p:txBody>
      </p:sp>
      <p:pic>
        <p:nvPicPr>
          <p:cNvPr descr="image.png" id="248" name="Google Shape;248;p23"/>
          <p:cNvPicPr preferRelativeResize="0"/>
          <p:nvPr/>
        </p:nvPicPr>
        <p:blipFill rotWithShape="1">
          <a:blip r:embed="rId4">
            <a:alphaModFix/>
          </a:blip>
          <a:srcRect b="0" l="0" r="0" t="0"/>
          <a:stretch/>
        </p:blipFill>
        <p:spPr>
          <a:xfrm>
            <a:off x="6838950" y="1504584"/>
            <a:ext cx="104775" cy="180975"/>
          </a:xfrm>
          <a:prstGeom prst="rect">
            <a:avLst/>
          </a:prstGeom>
          <a:noFill/>
          <a:ln>
            <a:noFill/>
          </a:ln>
        </p:spPr>
      </p:pic>
      <p:sp>
        <p:nvSpPr>
          <p:cNvPr id="249" name="Google Shape;249;p23"/>
          <p:cNvSpPr txBox="1"/>
          <p:nvPr/>
        </p:nvSpPr>
        <p:spPr>
          <a:xfrm>
            <a:off x="647700" y="501475"/>
            <a:ext cx="36717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11CAA0"/>
                </a:solidFill>
                <a:latin typeface="Merriweather"/>
                <a:ea typeface="Merriweather"/>
                <a:cs typeface="Merriweather"/>
                <a:sym typeface="Merriweather"/>
              </a:rPr>
              <a:t>Conclusion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